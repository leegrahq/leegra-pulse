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147474288" r:id="rId2"/>
    <p:sldId id="277" r:id="rId3"/>
    <p:sldId id="2147474285" r:id="rId4"/>
    <p:sldId id="2147471501" r:id="rId5"/>
    <p:sldId id="2147471447" r:id="rId6"/>
    <p:sldId id="214747429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AF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771" autoAdjust="0"/>
  </p:normalViewPr>
  <p:slideViewPr>
    <p:cSldViewPr snapToGrid="0">
      <p:cViewPr varScale="1">
        <p:scale>
          <a:sx n="74" d="100"/>
          <a:sy n="74" d="100"/>
        </p:scale>
        <p:origin x="10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C5A86-6EAE-49D5-830C-645CD81299A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D6B18-A8A3-43D5-88D7-23BAFFD45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39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6B18-A8A3-43D5-88D7-23BAFFD450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64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A76A3B-3416-4114-BD02-ED71A4B062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122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BHD302 – 16 euro</a:t>
            </a:r>
          </a:p>
          <a:p>
            <a:r>
              <a:rPr lang="en-US" dirty="0"/>
              <a:t>BHD351 – 21 euro</a:t>
            </a:r>
          </a:p>
          <a:p>
            <a:r>
              <a:rPr lang="en-US" dirty="0"/>
              <a:t>BHD500 – 31 euro </a:t>
            </a:r>
          </a:p>
          <a:p>
            <a:r>
              <a:rPr lang="en-US" dirty="0"/>
              <a:t>BHD510 – 41 euro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A76A3B-3416-4114-BD02-ED71A4B062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5671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A76A3B-3416-4114-BD02-ED71A4B062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577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0AF67-AE8D-988F-10CB-CFF964429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DA4FF-796C-3E90-43B0-BE6AA06239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AC12D-F76D-DC3D-904B-0CD0EDEEB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F8CBA-C50F-026C-2E27-A922E52FA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7EE20-6C98-F978-58A4-FB2DDB4FF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32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550EF-63AC-E21F-5967-34802EB51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AA7A2-58BB-3C97-A1ED-A844FE229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1AA37-F3EC-D26D-DD9B-CC2A01EE6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956AB-7DD8-D9BE-A7A6-B5F0BC451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F3A60-8C74-27BD-3E77-2DDDB6221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454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60ED9-18FF-A3F9-5C83-D8D205B80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91513-CC87-8318-49B4-CB5510869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026BE-EDC9-B5C3-5362-3B2E3CD7C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2E9C6-995F-31E2-2055-BEE6C79C2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B9701-F464-9C4E-8DFD-3B5D842E6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10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C2C19-3E8B-D9F4-DA26-4699649D0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4FF71-88CF-0123-D729-9F8F150418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F1DFB3-8C14-C1EE-78FC-D9BD843D8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D145E-07E5-16AD-04BF-360FF8BD0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A8D17-3347-51DD-E045-79F7CF336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36EC2-5455-26BF-778C-F941E7B7B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88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4F9AB-3611-1F42-AC7B-D1D013E4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22497-4BA6-C32D-E80C-485E329AD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E514A-286D-E88A-5373-891C2D0EE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B48D2F-B99A-46D4-4CF1-30E2DF86E3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8834AF-7DB3-2471-3286-030A0769A9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D994C5-6293-D43B-C5B1-9EFA65183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CFD8BD-535C-66FB-BCCA-86B80817C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377BBC-F918-8DA1-EC5F-09904BBFA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052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48CD6-FF0B-F9CB-3EFD-A98B68A6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349674-E653-5BEC-89D0-36AB6D55B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02E24-4C80-CF79-12C1-907CD7ADE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31C161-2459-9A1F-0CB5-549AAEFBD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934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1DBC2-595F-BBA6-8A4B-6FC916372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F06C0E-ED70-53E3-2A24-4992D0621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EC050-304A-5408-1652-4427423B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46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3EF08-0BD2-3CF4-0DFC-3C629EF70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9F938-4557-CF53-5CA1-3D46A41EB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E590B0-280D-0BA0-14E8-9324FB711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76B9D-18D9-F114-CD1C-E947D0979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E56EFD-69D6-BEC1-E188-889EB08C2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2268B-F8D5-7F9C-DAD1-411FA083E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8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543AC-24C8-5F56-A632-B6B6C91FE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D9B8FF-BFDD-A36C-918F-A4641F5EF1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112CD4-E0FC-8A40-A1A6-807C2FEC3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04694-CE65-1A61-43CE-5EACEABD4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00CCC-63A9-20D9-AC52-F9E842E8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C88BF-166E-66FB-2804-88D811DD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87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F8FA6-3817-C915-0231-452EB7B7E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4CD47-58A6-2463-2A83-03843BC00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F59DD-2B4C-D289-B29E-0399D12D4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4BF11-D546-0031-6E56-CAB969121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422AE-73E8-51C0-3B23-A95CD8478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45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5EAC75-4E05-F2F9-16EC-A284EE70A7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29B41-FED4-E5B1-36AB-F4B62FFD8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FF942-740E-7EC5-0C3B-0C1CE96E5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4DAA3-2DC7-1E97-9655-70203B83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E2766-9FFD-7389-66BA-CBA4A5CA9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1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DF32AE-332D-49FD-FB8B-B533BF32D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1402A-53CE-A977-3EE7-79FA7974F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E2020-D36E-2D37-19D0-39497112E2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F058D-D883-42D2-BCB2-D8EF9D34C59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FE45F-EAA0-CFD6-B822-5B842F0D6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E070F-3C6B-1BC0-885F-67AF2143C7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6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microsoft.com/office/2007/relationships/hdphoto" Target="../media/hdphoto2.wdp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5" Type="http://schemas.openxmlformats.org/officeDocument/2006/relationships/image" Target="../media/image7.jpg"/><Relationship Id="rId10" Type="http://schemas.openxmlformats.org/officeDocument/2006/relationships/image" Target="../media/image12.png"/><Relationship Id="rId4" Type="http://schemas.microsoft.com/office/2007/relationships/hdphoto" Target="../media/hdphoto1.wdp"/><Relationship Id="rId9" Type="http://schemas.microsoft.com/office/2007/relationships/hdphoto" Target="../media/hdphoto3.wdp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64F9CD-9371-1436-7083-07903197E4B2}"/>
              </a:ext>
            </a:extLst>
          </p:cNvPr>
          <p:cNvSpPr txBox="1"/>
          <p:nvPr/>
        </p:nvSpPr>
        <p:spPr>
          <a:xfrm>
            <a:off x="3117954" y="1678898"/>
            <a:ext cx="7824866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b="1" dirty="0"/>
              <a:t>Personal Health Training – 2026</a:t>
            </a:r>
          </a:p>
          <a:p>
            <a:endParaRPr lang="en-ZA" dirty="0"/>
          </a:p>
          <a:p>
            <a:r>
              <a:rPr lang="en-ZA" sz="2000" b="1" dirty="0"/>
              <a:t>Agenda</a:t>
            </a:r>
          </a:p>
          <a:p>
            <a:endParaRPr lang="en-ZA" dirty="0"/>
          </a:p>
          <a:p>
            <a:r>
              <a:rPr lang="en-ZA" dirty="0"/>
              <a:t>1. Welcome and thanks</a:t>
            </a:r>
          </a:p>
          <a:p>
            <a:endParaRPr lang="en-ZA" dirty="0"/>
          </a:p>
          <a:p>
            <a:r>
              <a:rPr lang="en-ZA" dirty="0"/>
              <a:t>2. Heated Straightening Brush</a:t>
            </a:r>
          </a:p>
          <a:p>
            <a:endParaRPr lang="en-ZA" dirty="0"/>
          </a:p>
          <a:p>
            <a:r>
              <a:rPr lang="en-ZA" dirty="0"/>
              <a:t>3. Dryers</a:t>
            </a:r>
          </a:p>
          <a:p>
            <a:endParaRPr lang="en-ZA" dirty="0"/>
          </a:p>
          <a:p>
            <a:r>
              <a:rPr lang="en-ZA" dirty="0"/>
              <a:t>4. Straighteners</a:t>
            </a:r>
          </a:p>
          <a:p>
            <a:endParaRPr lang="en-ZA" dirty="0"/>
          </a:p>
          <a:p>
            <a:r>
              <a:rPr lang="en-ZA" dirty="0"/>
              <a:t>5. Feature definitions </a:t>
            </a:r>
          </a:p>
          <a:p>
            <a:endParaRPr lang="en-ZA" dirty="0"/>
          </a:p>
          <a:p>
            <a:r>
              <a:rPr lang="en-ZA" dirty="0"/>
              <a:t>6. Questions</a:t>
            </a:r>
          </a:p>
          <a:p>
            <a:endParaRPr lang="en-ZA" dirty="0"/>
          </a:p>
        </p:txBody>
      </p:sp>
      <p:pic>
        <p:nvPicPr>
          <p:cNvPr id="5" name="Picture 4" descr="A logo of a company&#10;&#10;Description automatically generated">
            <a:extLst>
              <a:ext uri="{FF2B5EF4-FFF2-40B4-BE49-F238E27FC236}">
                <a16:creationId xmlns:a16="http://schemas.microsoft.com/office/drawing/2014/main" id="{05F5BB0D-72BA-D563-FADC-B7DF0E0F3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03161" cy="280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858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person, person, indoor, posing&#10;&#10;Description automatically generated">
            <a:extLst>
              <a:ext uri="{FF2B5EF4-FFF2-40B4-BE49-F238E27FC236}">
                <a16:creationId xmlns:a16="http://schemas.microsoft.com/office/drawing/2014/main" id="{0D99E1D5-168A-20FF-7DE2-BE1B510813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9366" y="4202830"/>
            <a:ext cx="2372634" cy="26551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4D3D55-0771-C077-F212-9F0DAE2FD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Hairdryer and Straightener features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F0CF8-90DC-915F-57F4-57C2786ED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ThermoProtect</a:t>
            </a:r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Attachment:</a:t>
            </a:r>
            <a:r>
              <a:rPr lang="en-US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P</a:t>
            </a:r>
            <a:r>
              <a:rPr lang="en-US" sz="2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rovides the optimal drying temperature and gives additional protection from overheating the hair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w</a:t>
            </a:r>
            <a:r>
              <a:rPr lang="en-US" sz="2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ith the same powerful airflow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 It mixes warm and cold air together for the perfect result.</a:t>
            </a:r>
          </a:p>
          <a:p>
            <a:r>
              <a:rPr lang="en-US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ThermoShield</a:t>
            </a:r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Technology: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G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ives you ultimate protection from heat damage, by actively controlling the air temperature of the dryer to an optimum level.</a:t>
            </a: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Ions: 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This technology </a:t>
            </a:r>
            <a:r>
              <a:rPr lang="en-US" sz="2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reduces static electricity by generating negative ions. By 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generating these negative ions, your hair does not become static. Also, the drying time is shorter.</a:t>
            </a:r>
          </a:p>
          <a:p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Keratin Infused Ceramic Plates: 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The straightener has a keratin 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   infused to keep your hair healthier, shiner and provide ultimate smooth 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   gliding also ceramic coated plates which</a:t>
            </a:r>
            <a:r>
              <a:rPr lang="en-US" sz="2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 allow even distribution of heat and </a:t>
            </a:r>
          </a:p>
          <a:p>
            <a:pPr marL="0" indent="0">
              <a:buNone/>
            </a:pPr>
            <a:r>
              <a:rPr lang="en-US" sz="2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   protects hair from heat damage.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972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3579963" y="6147552"/>
            <a:ext cx="5037827" cy="293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807281" y="5830759"/>
            <a:ext cx="1314451" cy="617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8978" y="5830759"/>
            <a:ext cx="11082948" cy="270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2" t="24802" r="4811" b="13960"/>
          <a:stretch>
            <a:fillRect/>
          </a:stretch>
        </p:blipFill>
        <p:spPr bwMode="auto">
          <a:xfrm rot="2909232">
            <a:off x="6530078" y="2209106"/>
            <a:ext cx="1759793" cy="866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5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9" t="24211" r="4259" b="20212"/>
          <a:stretch>
            <a:fillRect/>
          </a:stretch>
        </p:blipFill>
        <p:spPr bwMode="auto">
          <a:xfrm rot="2996030">
            <a:off x="8294225" y="2224564"/>
            <a:ext cx="1771891" cy="7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34"/>
          <p:cNvSpPr txBox="1"/>
          <p:nvPr/>
        </p:nvSpPr>
        <p:spPr>
          <a:xfrm>
            <a:off x="8718024" y="3186004"/>
            <a:ext cx="14060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sz="1200" b="1" dirty="0">
                <a:solidFill>
                  <a:prstClr val="black"/>
                </a:solidFill>
                <a:latin typeface="Calibri" panose="020F0502020204030204"/>
              </a:rPr>
              <a:t>ThermoProtect BHS377/00</a:t>
            </a:r>
          </a:p>
          <a:p>
            <a:pPr defTabSz="914377"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Prevent overheating with ThermoProtect technology </a:t>
            </a:r>
          </a:p>
          <a:p>
            <a:pPr defTabSz="914377"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Keratin ceramic plates for smooth gliding &amp; shiny hair  </a:t>
            </a:r>
          </a:p>
          <a:p>
            <a:pPr defTabSz="914377"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10 temp settings for precise control</a:t>
            </a:r>
          </a:p>
          <a:p>
            <a:pPr defTabSz="914377"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100mm long plates</a:t>
            </a:r>
          </a:p>
          <a:p>
            <a:pPr defTabSz="914377"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Auto shut off</a:t>
            </a:r>
          </a:p>
          <a:p>
            <a:pPr defTabSz="914377">
              <a:defRPr/>
            </a:pP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78070" y="3198373"/>
            <a:ext cx="1726553" cy="2903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sz="1200" b="1" dirty="0">
                <a:solidFill>
                  <a:prstClr val="black"/>
                </a:solidFill>
                <a:latin typeface="Calibri" panose="020F0502020204030204"/>
              </a:rPr>
              <a:t>ThermoProtect BHS378/00</a:t>
            </a:r>
          </a:p>
          <a:p>
            <a:pPr defTabSz="914377"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ThermoProtect Technology</a:t>
            </a:r>
          </a:p>
          <a:p>
            <a:pPr defTabSz="914377"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 Ionic care for shiny, frizz-free hair</a:t>
            </a:r>
          </a:p>
          <a:p>
            <a:pPr defTabSz="914377"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Keratin-infused plates for smooth gliding &amp; shiny hair.</a:t>
            </a:r>
          </a:p>
          <a:p>
            <a:pPr defTabSz="914377"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6 LED temperature settings </a:t>
            </a:r>
            <a:r>
              <a:rPr lang="en-ZA" sz="1067" dirty="0">
                <a:solidFill>
                  <a:prstClr val="black"/>
                </a:solidFill>
                <a:latin typeface="Calibri" panose="020F0502020204030204"/>
              </a:rPr>
              <a:t>160°C up to 230°C</a:t>
            </a:r>
          </a:p>
          <a:p>
            <a:pPr defTabSz="914377"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100mm plates for fast &amp; easy straightening.</a:t>
            </a:r>
          </a:p>
          <a:p>
            <a:pPr defTabSz="914377"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Auto shut-off</a:t>
            </a:r>
          </a:p>
          <a:p>
            <a:pPr defTabSz="914377"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Key lock function to safe storage.</a:t>
            </a:r>
          </a:p>
          <a:p>
            <a:pPr defTabSz="914377">
              <a:defRPr/>
            </a:pP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47C79F-44A3-4AC6-BA3B-3DD4665F092E}"/>
              </a:ext>
            </a:extLst>
          </p:cNvPr>
          <p:cNvSpPr/>
          <p:nvPr/>
        </p:nvSpPr>
        <p:spPr>
          <a:xfrm>
            <a:off x="6645109" y="1800508"/>
            <a:ext cx="3351711" cy="41340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1029" name="Graphic 2">
            <a:extLst>
              <a:ext uri="{FF2B5EF4-FFF2-40B4-BE49-F238E27FC236}">
                <a16:creationId xmlns:a16="http://schemas.microsoft.com/office/drawing/2014/main" id="{B441B8AD-60E6-FB1E-2557-B42D3252E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834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A white background with a white surface&#10;&#10;Description automatically generated with medium confidence">
            <a:extLst>
              <a:ext uri="{FF2B5EF4-FFF2-40B4-BE49-F238E27FC236}">
                <a16:creationId xmlns:a16="http://schemas.microsoft.com/office/drawing/2014/main" id="{5B4776A4-9050-52FD-5559-EBAAB06974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15" y="6345496"/>
            <a:ext cx="1409135" cy="41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934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3579963" y="6469811"/>
            <a:ext cx="5037827" cy="293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877549" y="6153018"/>
            <a:ext cx="1314451" cy="617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8978" y="6153018"/>
            <a:ext cx="11082948" cy="270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00929" y="3938142"/>
            <a:ext cx="2397488" cy="2694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sz="1200" b="1" dirty="0">
                <a:solidFill>
                  <a:prstClr val="black"/>
                </a:solidFill>
                <a:latin typeface="Calibri"/>
              </a:rPr>
              <a:t>Dryer 5000 Series BHD500/00</a:t>
            </a:r>
            <a:endParaRPr lang="en-US" sz="1000" dirty="0">
              <a:solidFill>
                <a:srgbClr val="D002B7"/>
              </a:solidFill>
              <a:latin typeface="Calibri"/>
            </a:endParaRPr>
          </a:p>
          <a:p>
            <a:pPr defTabSz="914377">
              <a:defRPr/>
            </a:pPr>
            <a:r>
              <a:rPr lang="en-US" sz="1051" dirty="0">
                <a:solidFill>
                  <a:srgbClr val="9E2DB1">
                    <a:lumMod val="75000"/>
                  </a:srgbClr>
                </a:solidFill>
                <a:latin typeface="Calibri"/>
              </a:rPr>
              <a:t>Fast drying with no heat damage with </a:t>
            </a:r>
            <a:r>
              <a:rPr lang="en-US" sz="1051" dirty="0" err="1">
                <a:solidFill>
                  <a:srgbClr val="9E2DB1">
                    <a:lumMod val="75000"/>
                  </a:srgbClr>
                </a:solidFill>
                <a:latin typeface="Calibri"/>
              </a:rPr>
              <a:t>ThermoShield</a:t>
            </a:r>
            <a:r>
              <a:rPr lang="en-US" sz="1051" dirty="0">
                <a:solidFill>
                  <a:srgbClr val="9E2DB1">
                    <a:lumMod val="75000"/>
                  </a:srgbClr>
                </a:solidFill>
                <a:latin typeface="Calibri"/>
              </a:rPr>
              <a:t> technology.</a:t>
            </a:r>
          </a:p>
          <a:p>
            <a:pPr defTabSz="914377">
              <a:defRPr/>
            </a:pPr>
            <a:r>
              <a:rPr lang="en-US" sz="1051" dirty="0">
                <a:solidFill>
                  <a:prstClr val="black"/>
                </a:solidFill>
                <a:latin typeface="Calibri"/>
              </a:rPr>
              <a:t>Overheat detect sensor actively optimizes &amp; controls the air temp, protecting your hair from damage. </a:t>
            </a:r>
          </a:p>
          <a:p>
            <a:pPr defTabSz="914377">
              <a:defRPr/>
            </a:pPr>
            <a:r>
              <a:rPr lang="en-US" sz="1051" dirty="0">
                <a:solidFill>
                  <a:prstClr val="black"/>
                </a:solidFill>
                <a:latin typeface="Calibri"/>
              </a:rPr>
              <a:t>2 x Ionic care (40mil ions) – intensifying your hair’s shine resulting in glossy, frizz-free hair. </a:t>
            </a:r>
          </a:p>
          <a:p>
            <a:pPr defTabSz="914377">
              <a:defRPr/>
            </a:pPr>
            <a:r>
              <a:rPr lang="en-US" sz="1051" dirty="0">
                <a:solidFill>
                  <a:prstClr val="black"/>
                </a:solidFill>
                <a:latin typeface="Calibri"/>
              </a:rPr>
              <a:t>2100w </a:t>
            </a:r>
          </a:p>
          <a:p>
            <a:pPr defTabSz="914377">
              <a:defRPr/>
            </a:pPr>
            <a:r>
              <a:rPr lang="en-US" sz="1051" dirty="0">
                <a:solidFill>
                  <a:prstClr val="black"/>
                </a:solidFill>
                <a:latin typeface="Calibri"/>
              </a:rPr>
              <a:t>6 heat &amp; speed settings </a:t>
            </a:r>
          </a:p>
          <a:p>
            <a:pPr defTabSz="914377">
              <a:defRPr/>
            </a:pPr>
            <a:r>
              <a:rPr lang="en-US" sz="1051" dirty="0">
                <a:solidFill>
                  <a:prstClr val="black"/>
                </a:solidFill>
                <a:latin typeface="Calibri"/>
              </a:rPr>
              <a:t>Cool shot to set your style</a:t>
            </a:r>
          </a:p>
          <a:p>
            <a:pPr defTabSz="914377">
              <a:defRPr/>
            </a:pPr>
            <a:r>
              <a:rPr lang="en-US" sz="1051" dirty="0">
                <a:solidFill>
                  <a:prstClr val="black"/>
                </a:solidFill>
                <a:latin typeface="Calibri"/>
              </a:rPr>
              <a:t>14mm styling nozzle </a:t>
            </a:r>
          </a:p>
          <a:p>
            <a:pPr defTabSz="914377">
              <a:defRPr/>
            </a:pPr>
            <a:endParaRPr lang="en-US" sz="1051" dirty="0">
              <a:solidFill>
                <a:prstClr val="black"/>
              </a:solidFill>
              <a:latin typeface="Calibri"/>
            </a:endParaRPr>
          </a:p>
          <a:p>
            <a:pPr defTabSz="914377">
              <a:defRPr/>
            </a:pPr>
            <a:r>
              <a:rPr lang="en-US" sz="1051" dirty="0">
                <a:solidFill>
                  <a:prstClr val="black"/>
                </a:solidFill>
                <a:latin typeface="Calibri"/>
              </a:rPr>
              <a:t>*RRP: R899</a:t>
            </a:r>
          </a:p>
          <a:p>
            <a:pPr defTabSz="914377">
              <a:defRPr/>
            </a:pPr>
            <a:endParaRPr lang="en-US" sz="1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 rot="5400000">
            <a:off x="2312720" y="-386050"/>
            <a:ext cx="365760" cy="3360372"/>
          </a:xfrm>
          <a:prstGeom prst="rect">
            <a:avLst/>
          </a:prstGeom>
          <a:solidFill>
            <a:srgbClr val="D002B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defTabSz="914377">
              <a:defRPr/>
            </a:pPr>
            <a:r>
              <a:rPr lang="en-US" b="1" dirty="0">
                <a:solidFill>
                  <a:prstClr val="white"/>
                </a:solidFill>
                <a:latin typeface="Calibri"/>
              </a:rPr>
              <a:t>Dryer 5000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1679" y="4101075"/>
            <a:ext cx="2136187" cy="2055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sz="1200" b="1" dirty="0">
                <a:solidFill>
                  <a:prstClr val="black"/>
                </a:solidFill>
                <a:latin typeface="Calibri"/>
              </a:rPr>
              <a:t>BHD302/10 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  <a:p>
            <a:pPr defTabSz="914377">
              <a:defRPr/>
            </a:pPr>
            <a:r>
              <a:rPr lang="en-US" sz="1051" dirty="0">
                <a:solidFill>
                  <a:srgbClr val="9E2DB1">
                    <a:lumMod val="75000"/>
                  </a:srgbClr>
                </a:solidFill>
                <a:latin typeface="Calibri"/>
              </a:rPr>
              <a:t>Powerful drying at lower temperatures</a:t>
            </a:r>
          </a:p>
          <a:p>
            <a:pPr defTabSz="914377">
              <a:defRPr/>
            </a:pPr>
            <a:r>
              <a:rPr lang="en-US" sz="1051" dirty="0">
                <a:solidFill>
                  <a:prstClr val="black"/>
                </a:solidFill>
                <a:latin typeface="Calibri"/>
              </a:rPr>
              <a:t>ThermoProtect Attachment </a:t>
            </a:r>
          </a:p>
          <a:p>
            <a:pPr defTabSz="914377">
              <a:defRPr/>
            </a:pPr>
            <a:r>
              <a:rPr lang="en-US" sz="1051" dirty="0">
                <a:solidFill>
                  <a:prstClr val="black"/>
                </a:solidFill>
                <a:latin typeface="Calibri"/>
              </a:rPr>
              <a:t>1600w </a:t>
            </a:r>
          </a:p>
          <a:p>
            <a:pPr defTabSz="914377">
              <a:defRPr/>
            </a:pPr>
            <a:r>
              <a:rPr lang="en-US" sz="1051" dirty="0">
                <a:solidFill>
                  <a:prstClr val="black"/>
                </a:solidFill>
                <a:latin typeface="Calibri"/>
              </a:rPr>
              <a:t>3 heat and speed settings</a:t>
            </a:r>
          </a:p>
          <a:p>
            <a:pPr defTabSz="914377">
              <a:defRPr/>
            </a:pPr>
            <a:r>
              <a:rPr lang="en-US" sz="1051" dirty="0">
                <a:solidFill>
                  <a:prstClr val="black"/>
                </a:solidFill>
                <a:latin typeface="Calibri"/>
              </a:rPr>
              <a:t>Cool setting</a:t>
            </a:r>
          </a:p>
          <a:p>
            <a:pPr defTabSz="914377">
              <a:defRPr/>
            </a:pPr>
            <a:r>
              <a:rPr lang="en-US" sz="1051" dirty="0">
                <a:solidFill>
                  <a:prstClr val="black"/>
                </a:solidFill>
                <a:latin typeface="Calibri"/>
              </a:rPr>
              <a:t>Slim nozzle for touch-ups &amp; detailed styling (14mm)</a:t>
            </a:r>
          </a:p>
          <a:p>
            <a:pPr defTabSz="914377">
              <a:defRPr/>
            </a:pPr>
            <a:endParaRPr lang="en-US" sz="1051" dirty="0">
              <a:solidFill>
                <a:prstClr val="black"/>
              </a:solidFill>
              <a:latin typeface="Calibri"/>
            </a:endParaRPr>
          </a:p>
          <a:p>
            <a:pPr defTabSz="914377">
              <a:defRPr/>
            </a:pPr>
            <a:r>
              <a:rPr lang="en-US" sz="1051" dirty="0">
                <a:solidFill>
                  <a:prstClr val="black"/>
                </a:solidFill>
                <a:latin typeface="Calibri"/>
              </a:rPr>
              <a:t>*RRP: R449</a:t>
            </a:r>
          </a:p>
          <a:p>
            <a:pPr defTabSz="914377">
              <a:defRPr/>
            </a:pPr>
            <a:endParaRPr lang="en-US" sz="105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960096" y="4115396"/>
            <a:ext cx="2277419" cy="2525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sz="1200" b="1" dirty="0">
                <a:solidFill>
                  <a:prstClr val="black"/>
                </a:solidFill>
                <a:latin typeface="Calibri"/>
              </a:rPr>
              <a:t>Advanced Ionic BHD351/10 </a:t>
            </a:r>
            <a:endParaRPr lang="en-US" sz="1051" dirty="0">
              <a:solidFill>
                <a:prstClr val="black"/>
              </a:solidFill>
              <a:latin typeface="Calibri"/>
            </a:endParaRPr>
          </a:p>
          <a:p>
            <a:pPr defTabSz="914377">
              <a:defRPr/>
            </a:pPr>
            <a:r>
              <a:rPr lang="en-US" sz="1051" dirty="0">
                <a:solidFill>
                  <a:srgbClr val="9E2DB1">
                    <a:lumMod val="75000"/>
                  </a:srgbClr>
                </a:solidFill>
                <a:latin typeface="Calibri"/>
              </a:rPr>
              <a:t>Powerful drying at lower</a:t>
            </a:r>
          </a:p>
          <a:p>
            <a:pPr defTabSz="914377">
              <a:defRPr/>
            </a:pPr>
            <a:r>
              <a:rPr lang="en-US" sz="1051" dirty="0">
                <a:solidFill>
                  <a:srgbClr val="9E2DB1">
                    <a:lumMod val="75000"/>
                  </a:srgbClr>
                </a:solidFill>
                <a:latin typeface="Calibri"/>
              </a:rPr>
              <a:t> temperatures</a:t>
            </a:r>
          </a:p>
          <a:p>
            <a:pPr defTabSz="914377">
              <a:defRPr/>
            </a:pPr>
            <a:r>
              <a:rPr lang="en-US" sz="1051" dirty="0">
                <a:solidFill>
                  <a:prstClr val="black"/>
                </a:solidFill>
                <a:latin typeface="Calibri"/>
              </a:rPr>
              <a:t>Advanced Ionic (20mil ions) </a:t>
            </a:r>
          </a:p>
          <a:p>
            <a:pPr defTabSz="914377">
              <a:defRPr/>
            </a:pPr>
            <a:r>
              <a:rPr lang="en-US" sz="1051" dirty="0">
                <a:solidFill>
                  <a:prstClr val="black"/>
                </a:solidFill>
                <a:latin typeface="Calibri"/>
              </a:rPr>
              <a:t>ThermoProtect Attachment</a:t>
            </a:r>
          </a:p>
          <a:p>
            <a:pPr defTabSz="914377">
              <a:defRPr/>
            </a:pPr>
            <a:r>
              <a:rPr lang="en-US" sz="1051" dirty="0">
                <a:solidFill>
                  <a:prstClr val="black"/>
                </a:solidFill>
                <a:latin typeface="Calibri"/>
              </a:rPr>
              <a:t>2100w </a:t>
            </a:r>
          </a:p>
          <a:p>
            <a:pPr defTabSz="914377">
              <a:defRPr/>
            </a:pPr>
            <a:r>
              <a:rPr lang="en-US" sz="1051" dirty="0">
                <a:solidFill>
                  <a:prstClr val="black"/>
                </a:solidFill>
                <a:latin typeface="Calibri"/>
              </a:rPr>
              <a:t>6 heat and speed settings</a:t>
            </a:r>
          </a:p>
          <a:p>
            <a:pPr defTabSz="914377">
              <a:defRPr/>
            </a:pPr>
            <a:r>
              <a:rPr lang="en-US" sz="1051" dirty="0">
                <a:solidFill>
                  <a:prstClr val="black"/>
                </a:solidFill>
                <a:latin typeface="Calibri"/>
              </a:rPr>
              <a:t>Cool setting</a:t>
            </a:r>
          </a:p>
          <a:p>
            <a:pPr defTabSz="914377">
              <a:defRPr/>
            </a:pPr>
            <a:r>
              <a:rPr lang="en-US" sz="1051" dirty="0">
                <a:solidFill>
                  <a:prstClr val="black"/>
                </a:solidFill>
                <a:latin typeface="Calibri"/>
              </a:rPr>
              <a:t>Slim nozzle for touch-ups &amp; detailed styling (14mm)</a:t>
            </a:r>
          </a:p>
          <a:p>
            <a:pPr defTabSz="914377">
              <a:defRPr/>
            </a:pPr>
            <a:endParaRPr lang="en-US" sz="1051" dirty="0">
              <a:solidFill>
                <a:prstClr val="black"/>
              </a:solidFill>
              <a:latin typeface="Calibri"/>
            </a:endParaRPr>
          </a:p>
          <a:p>
            <a:pPr defTabSz="914377">
              <a:defRPr/>
            </a:pPr>
            <a:r>
              <a:rPr lang="en-US" sz="1051" dirty="0">
                <a:solidFill>
                  <a:prstClr val="black"/>
                </a:solidFill>
                <a:latin typeface="Calibri"/>
              </a:rPr>
              <a:t>*RRP: R549</a:t>
            </a:r>
          </a:p>
          <a:p>
            <a:pPr defTabSz="914377">
              <a:defRPr/>
            </a:pPr>
            <a:endParaRPr lang="en-US" sz="1051" dirty="0">
              <a:solidFill>
                <a:prstClr val="black"/>
              </a:solidFill>
              <a:latin typeface="Calibri"/>
            </a:endParaRPr>
          </a:p>
          <a:p>
            <a:pPr defTabSz="914377">
              <a:defRPr/>
            </a:pPr>
            <a:endParaRPr lang="en-US" sz="1000" b="1" dirty="0">
              <a:solidFill>
                <a:srgbClr val="D002B7"/>
              </a:solidFill>
              <a:latin typeface="Calibri"/>
            </a:endParaRPr>
          </a:p>
          <a:p>
            <a:pPr defTabSz="914377">
              <a:defRPr/>
            </a:pPr>
            <a:endParaRPr lang="en-US" sz="10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53500" y="973960"/>
            <a:ext cx="1143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2457537" y="937293"/>
            <a:ext cx="91440" cy="91440"/>
          </a:xfrm>
          <a:prstGeom prst="ellipse">
            <a:avLst/>
          </a:prstGeom>
          <a:solidFill>
            <a:srgbClr val="FE8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9090215" y="937293"/>
            <a:ext cx="91440" cy="91440"/>
          </a:xfrm>
          <a:prstGeom prst="ellipse">
            <a:avLst/>
          </a:prstGeom>
          <a:solidFill>
            <a:srgbClr val="FE8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969011" y="614245"/>
            <a:ext cx="1086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Upgrade</a:t>
            </a:r>
          </a:p>
        </p:txBody>
      </p:sp>
      <p:sp>
        <p:nvSpPr>
          <p:cNvPr id="51" name="Rectangle 50"/>
          <p:cNvSpPr/>
          <p:nvPr/>
        </p:nvSpPr>
        <p:spPr>
          <a:xfrm rot="5400000">
            <a:off x="8821759" y="-487941"/>
            <a:ext cx="365760" cy="3573500"/>
          </a:xfrm>
          <a:prstGeom prst="rect">
            <a:avLst/>
          </a:prstGeom>
          <a:solidFill>
            <a:srgbClr val="D002B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defTabSz="914377">
              <a:defRPr/>
            </a:pPr>
            <a:r>
              <a:rPr lang="en-US" b="1" dirty="0">
                <a:solidFill>
                  <a:prstClr val="white"/>
                </a:solidFill>
                <a:latin typeface="Calibri"/>
              </a:rPr>
              <a:t>Dryer 3000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91275" y="22997"/>
            <a:ext cx="817684" cy="880944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875" y="-433"/>
            <a:ext cx="12192000" cy="635209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txBody>
          <a:bodyPr lIns="0" tIns="0" rIns="0" bIns="0" anchor="ctr"/>
          <a:lstStyle/>
          <a:p>
            <a:pPr defTabSz="914256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360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Hairdryers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2277" y="614245"/>
            <a:ext cx="1086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Volume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BF2FE03-9E76-42BC-B0C0-A1C4C6AED1AA}"/>
              </a:ext>
            </a:extLst>
          </p:cNvPr>
          <p:cNvGrpSpPr/>
          <p:nvPr/>
        </p:nvGrpSpPr>
        <p:grpSpPr>
          <a:xfrm>
            <a:off x="9596988" y="1419088"/>
            <a:ext cx="2506211" cy="2410697"/>
            <a:chOff x="1415800" y="871235"/>
            <a:chExt cx="1960659" cy="1868286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CC24490C-F3D0-4ED8-8E03-5B3D465E35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82" b="10803"/>
            <a:stretch/>
          </p:blipFill>
          <p:spPr>
            <a:xfrm>
              <a:off x="1597366" y="871235"/>
              <a:ext cx="1779093" cy="1831407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29BDB83C-E221-42E2-A249-7F407C607B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98" r="44981" b="59066"/>
            <a:stretch/>
          </p:blipFill>
          <p:spPr>
            <a:xfrm>
              <a:off x="1529703" y="1904460"/>
              <a:ext cx="610147" cy="835061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988DFA3F-E781-430B-B9FB-0DF00012C4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5300"/>
                      </a14:imgEffect>
                      <a14:imgEffect>
                        <a14:saturation sat="33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40" t="10624" r="47406" b="56266"/>
            <a:stretch/>
          </p:blipFill>
          <p:spPr>
            <a:xfrm>
              <a:off x="1415800" y="1565898"/>
              <a:ext cx="897790" cy="619901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350A0CF-491C-40C4-B7DE-2177CDD28911}"/>
              </a:ext>
            </a:extLst>
          </p:cNvPr>
          <p:cNvGrpSpPr/>
          <p:nvPr/>
        </p:nvGrpSpPr>
        <p:grpSpPr>
          <a:xfrm>
            <a:off x="6801132" y="1504767"/>
            <a:ext cx="1971641" cy="2430032"/>
            <a:chOff x="7625150" y="850852"/>
            <a:chExt cx="1375781" cy="2215231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4ABFAE77-7118-43FC-8214-4B8FA4A54B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331" r="14582"/>
            <a:stretch/>
          </p:blipFill>
          <p:spPr>
            <a:xfrm>
              <a:off x="7657601" y="850852"/>
              <a:ext cx="1343330" cy="2215231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DACB881A-81F0-4D63-8932-4C4B41A3FE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400" r="46832" b="57083"/>
            <a:stretch/>
          </p:blipFill>
          <p:spPr>
            <a:xfrm>
              <a:off x="7638820" y="1973403"/>
              <a:ext cx="576208" cy="950708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6B118EA9-4DAE-42DA-9396-EA6451CBE7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827" t="13194" r="51788" b="58636"/>
            <a:stretch/>
          </p:blipFill>
          <p:spPr>
            <a:xfrm>
              <a:off x="7625150" y="1743705"/>
              <a:ext cx="754939" cy="52755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C9F4EBF8-1CED-4FAB-BF9C-519EB6C62548}"/>
              </a:ext>
            </a:extLst>
          </p:cNvPr>
          <p:cNvSpPr txBox="1"/>
          <p:nvPr/>
        </p:nvSpPr>
        <p:spPr>
          <a:xfrm>
            <a:off x="5110481" y="6652121"/>
            <a:ext cx="708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377">
              <a:defRPr/>
            </a:pPr>
            <a:r>
              <a:rPr lang="en-US" sz="1000" dirty="0">
                <a:solidFill>
                  <a:prstClr val="white">
                    <a:lumMod val="65000"/>
                  </a:prstClr>
                </a:solidFill>
                <a:latin typeface="Calibri"/>
              </a:rPr>
              <a:t>RRP is the Recommended Retail Selling Price Including VAT.  Final pricing is at the discretion of the retailer.</a:t>
            </a:r>
            <a:endParaRPr lang="en-US" sz="900" dirty="0">
              <a:solidFill>
                <a:prstClr val="white">
                  <a:lumMod val="65000"/>
                </a:prstClr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D007D-EFE1-B0BD-EDD6-9F0DA2DAFAA3}"/>
              </a:ext>
            </a:extLst>
          </p:cNvPr>
          <p:cNvSpPr txBox="1"/>
          <p:nvPr/>
        </p:nvSpPr>
        <p:spPr>
          <a:xfrm>
            <a:off x="329049" y="3926621"/>
            <a:ext cx="2397488" cy="2740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defRPr/>
            </a:pPr>
            <a:r>
              <a:rPr lang="en-US" sz="1200" b="1" dirty="0">
                <a:solidFill>
                  <a:prstClr val="black"/>
                </a:solidFill>
                <a:latin typeface="Calibri"/>
              </a:rPr>
              <a:t>Dryer 5000 Series BHD510/00</a:t>
            </a:r>
            <a:endParaRPr lang="en-US" sz="1200" b="1" dirty="0">
              <a:solidFill>
                <a:srgbClr val="D002B7"/>
              </a:solidFill>
              <a:latin typeface="Calibri"/>
            </a:endParaRPr>
          </a:p>
          <a:p>
            <a:pPr defTabSz="914377">
              <a:defRPr/>
            </a:pPr>
            <a:r>
              <a:rPr lang="en-US" sz="1067" dirty="0">
                <a:solidFill>
                  <a:srgbClr val="9E2DB1">
                    <a:lumMod val="75000"/>
                  </a:srgbClr>
                </a:solidFill>
                <a:latin typeface="Calibri"/>
              </a:rPr>
              <a:t>Fast drying with no heat damage with </a:t>
            </a:r>
            <a:r>
              <a:rPr lang="en-US" sz="1067" dirty="0" err="1">
                <a:solidFill>
                  <a:srgbClr val="9E2DB1">
                    <a:lumMod val="75000"/>
                  </a:srgbClr>
                </a:solidFill>
                <a:latin typeface="Calibri"/>
              </a:rPr>
              <a:t>ThermoShield</a:t>
            </a:r>
            <a:r>
              <a:rPr lang="en-US" sz="1067" dirty="0">
                <a:solidFill>
                  <a:srgbClr val="9E2DB1">
                    <a:lumMod val="75000"/>
                  </a:srgbClr>
                </a:solidFill>
                <a:latin typeface="Calibri"/>
              </a:rPr>
              <a:t> technology.</a:t>
            </a:r>
          </a:p>
          <a:p>
            <a:pPr defTabSz="914377">
              <a:defRPr/>
            </a:pPr>
            <a:r>
              <a:rPr lang="en-US" sz="1067" dirty="0">
                <a:solidFill>
                  <a:prstClr val="black"/>
                </a:solidFill>
                <a:latin typeface="Calibri"/>
              </a:rPr>
              <a:t>Overheat detect sensor actively optimizes &amp; controls the air temp, protecting your hair from damage. </a:t>
            </a:r>
          </a:p>
          <a:p>
            <a:pPr defTabSz="914377">
              <a:defRPr/>
            </a:pPr>
            <a:r>
              <a:rPr lang="en-US" sz="1067" dirty="0">
                <a:solidFill>
                  <a:prstClr val="black"/>
                </a:solidFill>
                <a:latin typeface="Calibri"/>
              </a:rPr>
              <a:t>4 x Ions (80mil ions) </a:t>
            </a:r>
          </a:p>
          <a:p>
            <a:pPr defTabSz="914377">
              <a:defRPr/>
            </a:pPr>
            <a:r>
              <a:rPr lang="en-US" sz="1067" dirty="0">
                <a:solidFill>
                  <a:prstClr val="black"/>
                </a:solidFill>
                <a:latin typeface="Calibri"/>
              </a:rPr>
              <a:t>2300w </a:t>
            </a:r>
          </a:p>
          <a:p>
            <a:pPr defTabSz="914377">
              <a:defRPr/>
            </a:pPr>
            <a:r>
              <a:rPr lang="en-US" sz="1067" dirty="0">
                <a:solidFill>
                  <a:prstClr val="black"/>
                </a:solidFill>
                <a:latin typeface="Calibri"/>
              </a:rPr>
              <a:t>6 heat &amp; speed settings </a:t>
            </a:r>
          </a:p>
          <a:p>
            <a:pPr defTabSz="914377">
              <a:defRPr/>
            </a:pPr>
            <a:r>
              <a:rPr lang="en-US" sz="1067" dirty="0">
                <a:solidFill>
                  <a:prstClr val="black"/>
                </a:solidFill>
                <a:latin typeface="Calibri"/>
              </a:rPr>
              <a:t>Cool shot to set your style</a:t>
            </a:r>
          </a:p>
          <a:p>
            <a:pPr defTabSz="914377">
              <a:defRPr/>
            </a:pPr>
            <a:r>
              <a:rPr lang="en-US" sz="1067" dirty="0">
                <a:solidFill>
                  <a:prstClr val="black"/>
                </a:solidFill>
                <a:latin typeface="Calibri"/>
              </a:rPr>
              <a:t>11mm styling nozzle</a:t>
            </a:r>
          </a:p>
          <a:p>
            <a:pPr defTabSz="914377">
              <a:defRPr/>
            </a:pPr>
            <a:r>
              <a:rPr lang="en-US" sz="1067" dirty="0">
                <a:solidFill>
                  <a:prstClr val="black"/>
                </a:solidFill>
                <a:latin typeface="Calibri"/>
              </a:rPr>
              <a:t>Volume Diffuser  </a:t>
            </a:r>
          </a:p>
          <a:p>
            <a:pPr defTabSz="914377">
              <a:defRPr/>
            </a:pPr>
            <a:endParaRPr lang="en-US" sz="1067" dirty="0">
              <a:solidFill>
                <a:prstClr val="black"/>
              </a:solidFill>
              <a:latin typeface="Calibri"/>
            </a:endParaRPr>
          </a:p>
          <a:p>
            <a:pPr defTabSz="914377">
              <a:defRPr/>
            </a:pPr>
            <a:endParaRPr lang="en-US" sz="1067" dirty="0">
              <a:solidFill>
                <a:prstClr val="black"/>
              </a:solidFill>
              <a:latin typeface="Calibri"/>
            </a:endParaRPr>
          </a:p>
          <a:p>
            <a:pPr defTabSz="914377">
              <a:defRPr/>
            </a:pPr>
            <a:r>
              <a:rPr lang="en-US" sz="1067" dirty="0">
                <a:solidFill>
                  <a:prstClr val="black"/>
                </a:solidFill>
                <a:latin typeface="Calibri"/>
              </a:rPr>
              <a:t>*RRP: R1199</a:t>
            </a:r>
          </a:p>
          <a:p>
            <a:pPr defTabSz="914377">
              <a:defRPr/>
            </a:pPr>
            <a:endParaRPr lang="en-US" sz="1067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FCF10B-4D21-B6F7-A534-A685403D695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9442" y="1579576"/>
            <a:ext cx="2016223" cy="23260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D3FE02-8EAC-EACB-E928-1811F292B4F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8453" y="1561292"/>
            <a:ext cx="2136187" cy="233330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7D205A3-C261-E3A2-AC84-AC79279CBEFB}"/>
              </a:ext>
            </a:extLst>
          </p:cNvPr>
          <p:cNvSpPr/>
          <p:nvPr/>
        </p:nvSpPr>
        <p:spPr>
          <a:xfrm>
            <a:off x="6662057" y="1504767"/>
            <a:ext cx="2428158" cy="47030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F62D79B2-0A9E-4E36-696E-FA86BEE6F54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61376"/>
            <a:ext cx="12189125" cy="6911364"/>
          </a:xfrm>
          <a:prstGeom prst="rect">
            <a:avLst/>
          </a:prstGeom>
        </p:spPr>
      </p:pic>
      <p:pic>
        <p:nvPicPr>
          <p:cNvPr id="11" name="Picture 10" descr="A white background with a white surface&#10;&#10;Description automatically generated with medium confidence">
            <a:extLst>
              <a:ext uri="{FF2B5EF4-FFF2-40B4-BE49-F238E27FC236}">
                <a16:creationId xmlns:a16="http://schemas.microsoft.com/office/drawing/2014/main" id="{510EBC6A-C5DC-3BF1-B3F8-B62EB941D33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9" y="6288342"/>
            <a:ext cx="3387037" cy="482409"/>
          </a:xfrm>
          <a:prstGeom prst="rect">
            <a:avLst/>
          </a:prstGeom>
        </p:spPr>
      </p:pic>
      <p:pic>
        <p:nvPicPr>
          <p:cNvPr id="13" name="Picture 12" descr="A white background with a white surface&#10;&#10;Description automatically generated with medium confidence">
            <a:extLst>
              <a:ext uri="{FF2B5EF4-FFF2-40B4-BE49-F238E27FC236}">
                <a16:creationId xmlns:a16="http://schemas.microsoft.com/office/drawing/2014/main" id="{FCB1DBD3-83D5-6E53-FE90-98AEDDAAFDF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140" y="5834063"/>
            <a:ext cx="3449945" cy="5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394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2875" y="8804"/>
            <a:ext cx="12192000" cy="635209"/>
          </a:xfrm>
          <a:prstGeom prst="rect">
            <a:avLst/>
          </a:prstGeom>
          <a:solidFill>
            <a:srgbClr val="5D11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77">
              <a:defRPr/>
            </a:pPr>
            <a:r>
              <a:rPr lang="en-US" sz="4000" dirty="0">
                <a:solidFill>
                  <a:prstClr val="white"/>
                </a:solidFill>
                <a:latin typeface="Calibri" panose="020F0502020204030204"/>
              </a:rPr>
              <a:t>Straighteners </a:t>
            </a:r>
            <a:endParaRPr lang="en-US" sz="320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5" descr="A screenshot of a website&#10;&#10;Description automatically generated">
            <a:extLst>
              <a:ext uri="{FF2B5EF4-FFF2-40B4-BE49-F238E27FC236}">
                <a16:creationId xmlns:a16="http://schemas.microsoft.com/office/drawing/2014/main" id="{264547D0-589C-B98A-C724-91282297C5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04"/>
            <a:ext cx="12351895" cy="684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653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64F9CD-9371-1436-7083-07903197E4B2}"/>
              </a:ext>
            </a:extLst>
          </p:cNvPr>
          <p:cNvSpPr txBox="1"/>
          <p:nvPr/>
        </p:nvSpPr>
        <p:spPr>
          <a:xfrm>
            <a:off x="4616969" y="2653259"/>
            <a:ext cx="5876145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b="1" dirty="0"/>
              <a:t>Questions?</a:t>
            </a:r>
          </a:p>
          <a:p>
            <a:endParaRPr lang="en-ZA" dirty="0"/>
          </a:p>
        </p:txBody>
      </p:sp>
      <p:pic>
        <p:nvPicPr>
          <p:cNvPr id="5" name="Picture 4" descr="A logo of a company&#10;&#10;Description automatically generated">
            <a:extLst>
              <a:ext uri="{FF2B5EF4-FFF2-40B4-BE49-F238E27FC236}">
                <a16:creationId xmlns:a16="http://schemas.microsoft.com/office/drawing/2014/main" id="{05F5BB0D-72BA-D563-FADC-B7DF0E0F3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03161" cy="280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070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1459</TotalTime>
  <Words>496</Words>
  <Application>Microsoft Office PowerPoint</Application>
  <PresentationFormat>Widescreen</PresentationFormat>
  <Paragraphs>96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</vt:lpstr>
      <vt:lpstr>Calibri</vt:lpstr>
      <vt:lpstr>Calibri Light</vt:lpstr>
      <vt:lpstr>Office Theme</vt:lpstr>
      <vt:lpstr>PowerPoint Presentation</vt:lpstr>
      <vt:lpstr>Hairdryer and Straightener features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Shane Bhoora</dc:creator>
  <cp:lastModifiedBy>Mzwakhe Leegra</cp:lastModifiedBy>
  <cp:revision>40</cp:revision>
  <dcterms:created xsi:type="dcterms:W3CDTF">2022-12-13T20:45:58Z</dcterms:created>
  <dcterms:modified xsi:type="dcterms:W3CDTF">2026-04-21T22:29:09Z</dcterms:modified>
</cp:coreProperties>
</file>