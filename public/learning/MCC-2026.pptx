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12.jpg" ContentType="image/jp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9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45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147474288" r:id="rId2"/>
    <p:sldId id="256" r:id="rId3"/>
    <p:sldId id="2147138778" r:id="rId4"/>
    <p:sldId id="273" r:id="rId5"/>
    <p:sldId id="269" r:id="rId6"/>
    <p:sldId id="2147328071" r:id="rId7"/>
    <p:sldId id="2147474291" r:id="rId8"/>
    <p:sldId id="298" r:id="rId9"/>
    <p:sldId id="301" r:id="rId10"/>
    <p:sldId id="290" r:id="rId11"/>
    <p:sldId id="2147328069" r:id="rId12"/>
    <p:sldId id="2147328088" r:id="rId13"/>
    <p:sldId id="295" r:id="rId14"/>
    <p:sldId id="214747429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AF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771" autoAdjust="0"/>
  </p:normalViewPr>
  <p:slideViewPr>
    <p:cSldViewPr snapToGrid="0">
      <p:cViewPr varScale="1">
        <p:scale>
          <a:sx n="74" d="100"/>
          <a:sy n="74" d="100"/>
        </p:scale>
        <p:origin x="66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C5A86-6EAE-49D5-830C-645CD81299A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D6B18-A8A3-43D5-88D7-23BAFFD45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39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A1360-5A75-403C-B5A7-2C69D50D244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988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AA1360-5A75-403C-B5A7-2C69D50D244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943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>
                <a:solidFill>
                  <a:srgbClr val="0062A0"/>
                </a:solidFill>
                <a:latin typeface="CIDFont+F1"/>
              </a:rPr>
              <a:t>Eureka is the best in class for performance, while Daisy is easier to use on-the-go.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4B570-6761-4103-A57A-61D2FDB1E9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13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>
                <a:solidFill>
                  <a:srgbClr val="0062A0"/>
                </a:solidFill>
                <a:latin typeface="CIDFont+F1"/>
              </a:rPr>
              <a:t>Eureka is the best in class for performance, while Daisy is easier to use on-the-go.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4B570-6761-4103-A57A-61D2FDB1E9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23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0AF67-AE8D-988F-10CB-CFF96442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DA4FF-796C-3E90-43B0-BE6AA0623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AC12D-F76D-DC3D-904B-0CD0EDEEB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F8CBA-C50F-026C-2E27-A922E52F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7EE20-6C98-F978-58A4-FB2DDB4F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3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550EF-63AC-E21F-5967-34802EB51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AA7A2-58BB-3C97-A1ED-A844FE229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1AA37-F3EC-D26D-DD9B-CC2A01EE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956AB-7DD8-D9BE-A7A6-B5F0BC451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F3A60-8C74-27BD-3E77-2DDDB6221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454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0ED9-18FF-A3F9-5C83-D8D205B80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91513-CC87-8318-49B4-CB5510869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026BE-EDC9-B5C3-5362-3B2E3CD7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2E9C6-995F-31E2-2055-BEE6C79C2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B9701-F464-9C4E-8DFD-3B5D842E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1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2C19-3E8B-D9F4-DA26-4699649D0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4FF71-88CF-0123-D729-9F8F15041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1DFB3-8C14-C1EE-78FC-D9BD843D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7D145E-07E5-16AD-04BF-360FF8BD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A8D17-3347-51DD-E045-79F7CF336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436EC2-5455-26BF-778C-F941E7B7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8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4F9AB-3611-1F42-AC7B-D1D013E4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22497-4BA6-C32D-E80C-485E329AD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E514A-286D-E88A-5373-891C2D0EE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48D2F-B99A-46D4-4CF1-30E2DF86E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834AF-7DB3-2471-3286-030A0769A9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D994C5-6293-D43B-C5B1-9EFA6518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CFD8BD-535C-66FB-BCCA-86B80817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377BBC-F918-8DA1-EC5F-09904BBFA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52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8CD6-FF0B-F9CB-3EFD-A98B68A6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349674-E653-5BEC-89D0-36AB6D55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02E24-4C80-CF79-12C1-907CD7AD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1C161-2459-9A1F-0CB5-549AAEFBD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34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1DBC2-595F-BBA6-8A4B-6FC916372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06C0E-ED70-53E3-2A24-4992D062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EC050-304A-5408-1652-4427423B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4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EF08-0BD2-3CF4-0DFC-3C629EF7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9F938-4557-CF53-5CA1-3D46A41EB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590B0-280D-0BA0-14E8-9324FB711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76B9D-18D9-F114-CD1C-E947D097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E56EFD-69D6-BEC1-E188-889EB08C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2268B-F8D5-7F9C-DAD1-411FA083E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43AC-24C8-5F56-A632-B6B6C91F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9B8FF-BFDD-A36C-918F-A4641F5EF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12CD4-E0FC-8A40-A1A6-807C2FEC3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04694-CE65-1A61-43CE-5EACEABD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00CCC-63A9-20D9-AC52-F9E842E8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C88BF-166E-66FB-2804-88D811DD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87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8FA6-3817-C915-0231-452EB7B7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4CD47-58A6-2463-2A83-03843BC00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F59DD-2B4C-D289-B29E-0399D12D4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4BF11-D546-0031-6E56-CAB96912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422AE-73E8-51C0-3B23-A95CD847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4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EAC75-4E05-F2F9-16EC-A284EE70A7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29B41-FED4-E5B1-36AB-F4B62FFD8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FF942-740E-7EC5-0C3B-0C1CE96E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4DAA3-2DC7-1E97-9655-70203B83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E2766-9FFD-7389-66BA-CBA4A5CA9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1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1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1" dirty="0"/>
          </a:p>
        </p:txBody>
      </p:sp>
    </p:spTree>
    <p:extLst>
      <p:ext uri="{BB962C8B-B14F-4D97-AF65-F5344CB8AC3E}">
        <p14:creationId xmlns:p14="http://schemas.microsoft.com/office/powerpoint/2010/main" val="302542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F32AE-332D-49FD-FB8B-B533BF32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1402A-53CE-A977-3EE7-79FA7974F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E2020-D36E-2D37-19D0-39497112E2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F058D-D883-42D2-BCB2-D8EF9D34C59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FE45F-EAA0-CFD6-B822-5B842F0D6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E070F-3C6B-1BC0-885F-67AF2143C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63CDB-581D-4EE4-942E-8E96F54D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6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tiff"/><Relationship Id="rId3" Type="http://schemas.openxmlformats.org/officeDocument/2006/relationships/image" Target="../media/image13.tiff"/><Relationship Id="rId7" Type="http://schemas.openxmlformats.org/officeDocument/2006/relationships/image" Target="../media/image17.tiff"/><Relationship Id="rId12" Type="http://schemas.openxmlformats.org/officeDocument/2006/relationships/image" Target="../media/image22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tiff"/><Relationship Id="rId11" Type="http://schemas.openxmlformats.org/officeDocument/2006/relationships/image" Target="../media/image21.jpeg"/><Relationship Id="rId5" Type="http://schemas.openxmlformats.org/officeDocument/2006/relationships/image" Target="../media/image15.tiff"/><Relationship Id="rId10" Type="http://schemas.openxmlformats.org/officeDocument/2006/relationships/image" Target="../media/image20.png"/><Relationship Id="rId4" Type="http://schemas.openxmlformats.org/officeDocument/2006/relationships/image" Target="../media/image14.tiff"/><Relationship Id="rId9" Type="http://schemas.openxmlformats.org/officeDocument/2006/relationships/image" Target="../media/image19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4F9CD-9371-1436-7083-07903197E4B2}"/>
              </a:ext>
            </a:extLst>
          </p:cNvPr>
          <p:cNvSpPr txBox="1"/>
          <p:nvPr/>
        </p:nvSpPr>
        <p:spPr>
          <a:xfrm>
            <a:off x="3117954" y="1678898"/>
            <a:ext cx="782486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b="1" dirty="0"/>
              <a:t>Avent – 2026 </a:t>
            </a:r>
          </a:p>
          <a:p>
            <a:endParaRPr lang="en-ZA" dirty="0"/>
          </a:p>
          <a:p>
            <a:r>
              <a:rPr lang="en-ZA" sz="2000" b="1" dirty="0"/>
              <a:t>Agenda</a:t>
            </a:r>
          </a:p>
          <a:p>
            <a:endParaRPr lang="en-ZA" dirty="0"/>
          </a:p>
          <a:p>
            <a:r>
              <a:rPr lang="en-ZA" dirty="0"/>
              <a:t>1.Welcome and thanks</a:t>
            </a:r>
          </a:p>
          <a:p>
            <a:r>
              <a:rPr lang="en-ZA" dirty="0"/>
              <a:t>2. Avent</a:t>
            </a:r>
          </a:p>
          <a:p>
            <a:r>
              <a:rPr lang="en-ZA" dirty="0"/>
              <a:t>3. Soothers</a:t>
            </a:r>
          </a:p>
          <a:p>
            <a:r>
              <a:rPr lang="en-ZA" dirty="0"/>
              <a:t>4. Natural bottles</a:t>
            </a:r>
          </a:p>
          <a:p>
            <a:r>
              <a:rPr lang="en-ZA" dirty="0"/>
              <a:t>5. Anti Colic bottles</a:t>
            </a:r>
          </a:p>
          <a:p>
            <a:r>
              <a:rPr lang="en-ZA" dirty="0"/>
              <a:t>6. Breast milk storage</a:t>
            </a:r>
          </a:p>
          <a:p>
            <a:r>
              <a:rPr lang="en-ZA" dirty="0"/>
              <a:t>7. Breast pumps</a:t>
            </a:r>
          </a:p>
          <a:p>
            <a:r>
              <a:rPr lang="en-ZA" dirty="0"/>
              <a:t>8. Questions</a:t>
            </a:r>
          </a:p>
          <a:p>
            <a:endParaRPr lang="en-ZA" dirty="0"/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05F5BB0D-72BA-D563-FADC-B7DF0E0F3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03161" cy="280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858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"/>
            <a:ext cx="12192000" cy="6161193"/>
            <a:chOff x="0" y="0"/>
            <a:chExt cx="9144000" cy="4620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2450" y="0"/>
              <a:ext cx="1885949" cy="12953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3999" cy="46207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499" y="0"/>
              <a:ext cx="1816608" cy="149199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901151" y="6287161"/>
            <a:ext cx="936413" cy="268393"/>
            <a:chOff x="1425863" y="4715370"/>
            <a:chExt cx="702310" cy="20129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9078" y="4715370"/>
              <a:ext cx="488815" cy="2011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25854" y="4789715"/>
              <a:ext cx="187960" cy="90170"/>
            </a:xfrm>
            <a:custGeom>
              <a:avLst/>
              <a:gdLst/>
              <a:ahLst/>
              <a:cxnLst/>
              <a:rect l="l" t="t" r="r" b="b"/>
              <a:pathLst>
                <a:path w="187959" h="90170">
                  <a:moveTo>
                    <a:pt x="94996" y="44919"/>
                  </a:moveTo>
                  <a:lnTo>
                    <a:pt x="91363" y="26949"/>
                  </a:lnTo>
                  <a:lnTo>
                    <a:pt x="83172" y="15341"/>
                  </a:lnTo>
                  <a:lnTo>
                    <a:pt x="81318" y="12725"/>
                  </a:lnTo>
                  <a:lnTo>
                    <a:pt x="76022" y="9461"/>
                  </a:lnTo>
                  <a:lnTo>
                    <a:pt x="76022" y="44919"/>
                  </a:lnTo>
                  <a:lnTo>
                    <a:pt x="74129" y="56349"/>
                  </a:lnTo>
                  <a:lnTo>
                    <a:pt x="68580" y="65760"/>
                  </a:lnTo>
                  <a:lnTo>
                    <a:pt x="59563" y="72148"/>
                  </a:lnTo>
                  <a:lnTo>
                    <a:pt x="47256" y="74510"/>
                  </a:lnTo>
                  <a:lnTo>
                    <a:pt x="35179" y="72148"/>
                  </a:lnTo>
                  <a:lnTo>
                    <a:pt x="26301" y="65760"/>
                  </a:lnTo>
                  <a:lnTo>
                    <a:pt x="20828" y="56349"/>
                  </a:lnTo>
                  <a:lnTo>
                    <a:pt x="18961" y="44919"/>
                  </a:lnTo>
                  <a:lnTo>
                    <a:pt x="20828" y="33235"/>
                  </a:lnTo>
                  <a:lnTo>
                    <a:pt x="26301" y="23850"/>
                  </a:lnTo>
                  <a:lnTo>
                    <a:pt x="35179" y="17614"/>
                  </a:lnTo>
                  <a:lnTo>
                    <a:pt x="47256" y="15341"/>
                  </a:lnTo>
                  <a:lnTo>
                    <a:pt x="59563" y="17614"/>
                  </a:lnTo>
                  <a:lnTo>
                    <a:pt x="68580" y="23850"/>
                  </a:lnTo>
                  <a:lnTo>
                    <a:pt x="74129" y="33235"/>
                  </a:lnTo>
                  <a:lnTo>
                    <a:pt x="76022" y="44919"/>
                  </a:lnTo>
                  <a:lnTo>
                    <a:pt x="76022" y="9461"/>
                  </a:lnTo>
                  <a:lnTo>
                    <a:pt x="66179" y="3365"/>
                  </a:lnTo>
                  <a:lnTo>
                    <a:pt x="47256" y="0"/>
                  </a:lnTo>
                  <a:lnTo>
                    <a:pt x="28536" y="3365"/>
                  </a:lnTo>
                  <a:lnTo>
                    <a:pt x="13563" y="12725"/>
                  </a:lnTo>
                  <a:lnTo>
                    <a:pt x="3606" y="26949"/>
                  </a:lnTo>
                  <a:lnTo>
                    <a:pt x="0" y="44919"/>
                  </a:lnTo>
                  <a:lnTo>
                    <a:pt x="3632" y="62877"/>
                  </a:lnTo>
                  <a:lnTo>
                    <a:pt x="13614" y="77050"/>
                  </a:lnTo>
                  <a:lnTo>
                    <a:pt x="28600" y="86347"/>
                  </a:lnTo>
                  <a:lnTo>
                    <a:pt x="47256" y="89687"/>
                  </a:lnTo>
                  <a:lnTo>
                    <a:pt x="66128" y="86347"/>
                  </a:lnTo>
                  <a:lnTo>
                    <a:pt x="81267" y="77050"/>
                  </a:lnTo>
                  <a:lnTo>
                    <a:pt x="83070" y="74510"/>
                  </a:lnTo>
                  <a:lnTo>
                    <a:pt x="91338" y="62877"/>
                  </a:lnTo>
                  <a:lnTo>
                    <a:pt x="94996" y="44919"/>
                  </a:lnTo>
                  <a:close/>
                </a:path>
                <a:path w="187959" h="90170">
                  <a:moveTo>
                    <a:pt x="187452" y="36626"/>
                  </a:moveTo>
                  <a:lnTo>
                    <a:pt x="184797" y="19875"/>
                  </a:lnTo>
                  <a:lnTo>
                    <a:pt x="177634" y="8521"/>
                  </a:lnTo>
                  <a:lnTo>
                    <a:pt x="167119" y="2057"/>
                  </a:lnTo>
                  <a:lnTo>
                    <a:pt x="154419" y="0"/>
                  </a:lnTo>
                  <a:lnTo>
                    <a:pt x="141909" y="2311"/>
                  </a:lnTo>
                  <a:lnTo>
                    <a:pt x="133337" y="7518"/>
                  </a:lnTo>
                  <a:lnTo>
                    <a:pt x="128346" y="13081"/>
                  </a:lnTo>
                  <a:lnTo>
                    <a:pt x="126606" y="16433"/>
                  </a:lnTo>
                  <a:lnTo>
                    <a:pt x="126606" y="1574"/>
                  </a:lnTo>
                  <a:lnTo>
                    <a:pt x="109537" y="1574"/>
                  </a:lnTo>
                  <a:lnTo>
                    <a:pt x="109537" y="88125"/>
                  </a:lnTo>
                  <a:lnTo>
                    <a:pt x="127698" y="88125"/>
                  </a:lnTo>
                  <a:lnTo>
                    <a:pt x="127698" y="40233"/>
                  </a:lnTo>
                  <a:lnTo>
                    <a:pt x="129133" y="30797"/>
                  </a:lnTo>
                  <a:lnTo>
                    <a:pt x="133388" y="22860"/>
                  </a:lnTo>
                  <a:lnTo>
                    <a:pt x="140373" y="17386"/>
                  </a:lnTo>
                  <a:lnTo>
                    <a:pt x="149987" y="15341"/>
                  </a:lnTo>
                  <a:lnTo>
                    <a:pt x="157873" y="16700"/>
                  </a:lnTo>
                  <a:lnTo>
                    <a:pt x="163957" y="20777"/>
                  </a:lnTo>
                  <a:lnTo>
                    <a:pt x="167881" y="27622"/>
                  </a:lnTo>
                  <a:lnTo>
                    <a:pt x="169265" y="37249"/>
                  </a:lnTo>
                  <a:lnTo>
                    <a:pt x="169265" y="88125"/>
                  </a:lnTo>
                  <a:lnTo>
                    <a:pt x="187452" y="88125"/>
                  </a:lnTo>
                  <a:lnTo>
                    <a:pt x="187452" y="36626"/>
                  </a:lnTo>
                  <a:close/>
                </a:path>
              </a:pathLst>
            </a:custGeom>
            <a:solidFill>
              <a:srgbClr val="003478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9" name="object 9"/>
          <p:cNvSpPr/>
          <p:nvPr/>
        </p:nvSpPr>
        <p:spPr>
          <a:xfrm>
            <a:off x="1781676" y="6358113"/>
            <a:ext cx="55880" cy="148167"/>
          </a:xfrm>
          <a:custGeom>
            <a:avLst/>
            <a:gdLst/>
            <a:ahLst/>
            <a:cxnLst/>
            <a:rect l="l" t="t" r="r" b="b"/>
            <a:pathLst>
              <a:path w="41909" h="111125">
                <a:moveTo>
                  <a:pt x="18182" y="0"/>
                </a:moveTo>
                <a:lnTo>
                  <a:pt x="0" y="0"/>
                </a:lnTo>
                <a:lnTo>
                  <a:pt x="0" y="82795"/>
                </a:lnTo>
                <a:lnTo>
                  <a:pt x="1271" y="95360"/>
                </a:lnTo>
                <a:lnTo>
                  <a:pt x="5433" y="104081"/>
                </a:lnTo>
                <a:lnTo>
                  <a:pt x="13003" y="109163"/>
                </a:lnTo>
                <a:lnTo>
                  <a:pt x="24502" y="110812"/>
                </a:lnTo>
                <a:lnTo>
                  <a:pt x="32235" y="110812"/>
                </a:lnTo>
                <a:lnTo>
                  <a:pt x="36828" y="109402"/>
                </a:lnTo>
                <a:lnTo>
                  <a:pt x="41400" y="107525"/>
                </a:lnTo>
                <a:lnTo>
                  <a:pt x="40768" y="94691"/>
                </a:lnTo>
                <a:lnTo>
                  <a:pt x="33815" y="96568"/>
                </a:lnTo>
                <a:lnTo>
                  <a:pt x="30022" y="96568"/>
                </a:lnTo>
                <a:lnTo>
                  <a:pt x="21342" y="96568"/>
                </a:lnTo>
                <a:lnTo>
                  <a:pt x="18182" y="92655"/>
                </a:lnTo>
                <a:lnTo>
                  <a:pt x="18182" y="35372"/>
                </a:lnTo>
                <a:lnTo>
                  <a:pt x="41084" y="35372"/>
                </a:lnTo>
                <a:lnTo>
                  <a:pt x="41084" y="22694"/>
                </a:lnTo>
                <a:lnTo>
                  <a:pt x="18182" y="22694"/>
                </a:lnTo>
                <a:lnTo>
                  <a:pt x="18182" y="0"/>
                </a:lnTo>
                <a:close/>
              </a:path>
            </a:pathLst>
          </a:custGeom>
          <a:solidFill>
            <a:srgbClr val="00347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0" name="object 10"/>
          <p:cNvSpPr/>
          <p:nvPr/>
        </p:nvSpPr>
        <p:spPr>
          <a:xfrm>
            <a:off x="1160036" y="6386288"/>
            <a:ext cx="597745" cy="120227"/>
          </a:xfrm>
          <a:custGeom>
            <a:avLst/>
            <a:gdLst/>
            <a:ahLst/>
            <a:cxnLst/>
            <a:rect l="l" t="t" r="r" b="b"/>
            <a:pathLst>
              <a:path w="448309" h="90170">
                <a:moveTo>
                  <a:pt x="77762" y="36626"/>
                </a:moveTo>
                <a:lnTo>
                  <a:pt x="75107" y="19875"/>
                </a:lnTo>
                <a:lnTo>
                  <a:pt x="67957" y="8521"/>
                </a:lnTo>
                <a:lnTo>
                  <a:pt x="57492" y="2057"/>
                </a:lnTo>
                <a:lnTo>
                  <a:pt x="44881" y="0"/>
                </a:lnTo>
                <a:lnTo>
                  <a:pt x="32385" y="2311"/>
                </a:lnTo>
                <a:lnTo>
                  <a:pt x="23812" y="7518"/>
                </a:lnTo>
                <a:lnTo>
                  <a:pt x="18821" y="13081"/>
                </a:lnTo>
                <a:lnTo>
                  <a:pt x="17068" y="16433"/>
                </a:lnTo>
                <a:lnTo>
                  <a:pt x="17068" y="1574"/>
                </a:lnTo>
                <a:lnTo>
                  <a:pt x="0" y="1574"/>
                </a:lnTo>
                <a:lnTo>
                  <a:pt x="0" y="88125"/>
                </a:lnTo>
                <a:lnTo>
                  <a:pt x="18021" y="88125"/>
                </a:lnTo>
                <a:lnTo>
                  <a:pt x="18021" y="40233"/>
                </a:lnTo>
                <a:lnTo>
                  <a:pt x="19456" y="30797"/>
                </a:lnTo>
                <a:lnTo>
                  <a:pt x="23710" y="22860"/>
                </a:lnTo>
                <a:lnTo>
                  <a:pt x="30683" y="17386"/>
                </a:lnTo>
                <a:lnTo>
                  <a:pt x="40297" y="15341"/>
                </a:lnTo>
                <a:lnTo>
                  <a:pt x="48183" y="16700"/>
                </a:lnTo>
                <a:lnTo>
                  <a:pt x="54267" y="20777"/>
                </a:lnTo>
                <a:lnTo>
                  <a:pt x="58191" y="27622"/>
                </a:lnTo>
                <a:lnTo>
                  <a:pt x="59588" y="37249"/>
                </a:lnTo>
                <a:lnTo>
                  <a:pt x="59588" y="88125"/>
                </a:lnTo>
                <a:lnTo>
                  <a:pt x="77762" y="88125"/>
                </a:lnTo>
                <a:lnTo>
                  <a:pt x="77762" y="36626"/>
                </a:lnTo>
                <a:close/>
              </a:path>
              <a:path w="448309" h="90170">
                <a:moveTo>
                  <a:pt x="174002" y="36626"/>
                </a:moveTo>
                <a:lnTo>
                  <a:pt x="171361" y="19875"/>
                </a:lnTo>
                <a:lnTo>
                  <a:pt x="164211" y="8521"/>
                </a:lnTo>
                <a:lnTo>
                  <a:pt x="153733" y="2057"/>
                </a:lnTo>
                <a:lnTo>
                  <a:pt x="141135" y="0"/>
                </a:lnTo>
                <a:lnTo>
                  <a:pt x="128625" y="2311"/>
                </a:lnTo>
                <a:lnTo>
                  <a:pt x="120040" y="7518"/>
                </a:lnTo>
                <a:lnTo>
                  <a:pt x="114998" y="13081"/>
                </a:lnTo>
                <a:lnTo>
                  <a:pt x="113157" y="16433"/>
                </a:lnTo>
                <a:lnTo>
                  <a:pt x="113157" y="1574"/>
                </a:lnTo>
                <a:lnTo>
                  <a:pt x="96088" y="1574"/>
                </a:lnTo>
                <a:lnTo>
                  <a:pt x="96088" y="88125"/>
                </a:lnTo>
                <a:lnTo>
                  <a:pt x="114261" y="88125"/>
                </a:lnTo>
                <a:lnTo>
                  <a:pt x="114261" y="40233"/>
                </a:lnTo>
                <a:lnTo>
                  <a:pt x="115697" y="30797"/>
                </a:lnTo>
                <a:lnTo>
                  <a:pt x="119951" y="22860"/>
                </a:lnTo>
                <a:lnTo>
                  <a:pt x="126936" y="17386"/>
                </a:lnTo>
                <a:lnTo>
                  <a:pt x="136550" y="15341"/>
                </a:lnTo>
                <a:lnTo>
                  <a:pt x="144424" y="16700"/>
                </a:lnTo>
                <a:lnTo>
                  <a:pt x="150520" y="20777"/>
                </a:lnTo>
                <a:lnTo>
                  <a:pt x="154444" y="27622"/>
                </a:lnTo>
                <a:lnTo>
                  <a:pt x="155829" y="37249"/>
                </a:lnTo>
                <a:lnTo>
                  <a:pt x="155829" y="88125"/>
                </a:lnTo>
                <a:lnTo>
                  <a:pt x="174002" y="88125"/>
                </a:lnTo>
                <a:lnTo>
                  <a:pt x="174002" y="36626"/>
                </a:lnTo>
                <a:close/>
              </a:path>
              <a:path w="448309" h="90170">
                <a:moveTo>
                  <a:pt x="283540" y="44919"/>
                </a:moveTo>
                <a:lnTo>
                  <a:pt x="279895" y="26949"/>
                </a:lnTo>
                <a:lnTo>
                  <a:pt x="271703" y="15341"/>
                </a:lnTo>
                <a:lnTo>
                  <a:pt x="269862" y="12725"/>
                </a:lnTo>
                <a:lnTo>
                  <a:pt x="264553" y="9448"/>
                </a:lnTo>
                <a:lnTo>
                  <a:pt x="264553" y="44919"/>
                </a:lnTo>
                <a:lnTo>
                  <a:pt x="262636" y="56349"/>
                </a:lnTo>
                <a:lnTo>
                  <a:pt x="257048" y="65760"/>
                </a:lnTo>
                <a:lnTo>
                  <a:pt x="248018" y="72148"/>
                </a:lnTo>
                <a:lnTo>
                  <a:pt x="235800" y="74510"/>
                </a:lnTo>
                <a:lnTo>
                  <a:pt x="223685" y="72148"/>
                </a:lnTo>
                <a:lnTo>
                  <a:pt x="214769" y="65760"/>
                </a:lnTo>
                <a:lnTo>
                  <a:pt x="209245" y="56349"/>
                </a:lnTo>
                <a:lnTo>
                  <a:pt x="207352" y="44919"/>
                </a:lnTo>
                <a:lnTo>
                  <a:pt x="209245" y="33235"/>
                </a:lnTo>
                <a:lnTo>
                  <a:pt x="214769" y="23850"/>
                </a:lnTo>
                <a:lnTo>
                  <a:pt x="223685" y="17614"/>
                </a:lnTo>
                <a:lnTo>
                  <a:pt x="235800" y="15341"/>
                </a:lnTo>
                <a:lnTo>
                  <a:pt x="248018" y="17614"/>
                </a:lnTo>
                <a:lnTo>
                  <a:pt x="257048" y="23850"/>
                </a:lnTo>
                <a:lnTo>
                  <a:pt x="262636" y="33235"/>
                </a:lnTo>
                <a:lnTo>
                  <a:pt x="264553" y="44919"/>
                </a:lnTo>
                <a:lnTo>
                  <a:pt x="264553" y="9448"/>
                </a:lnTo>
                <a:lnTo>
                  <a:pt x="254723" y="3365"/>
                </a:lnTo>
                <a:lnTo>
                  <a:pt x="235800" y="0"/>
                </a:lnTo>
                <a:lnTo>
                  <a:pt x="217055" y="3365"/>
                </a:lnTo>
                <a:lnTo>
                  <a:pt x="202018" y="12725"/>
                </a:lnTo>
                <a:lnTo>
                  <a:pt x="192024" y="26949"/>
                </a:lnTo>
                <a:lnTo>
                  <a:pt x="188391" y="44919"/>
                </a:lnTo>
                <a:lnTo>
                  <a:pt x="192049" y="62877"/>
                </a:lnTo>
                <a:lnTo>
                  <a:pt x="202082" y="77050"/>
                </a:lnTo>
                <a:lnTo>
                  <a:pt x="217131" y="86347"/>
                </a:lnTo>
                <a:lnTo>
                  <a:pt x="235800" y="89687"/>
                </a:lnTo>
                <a:lnTo>
                  <a:pt x="254660" y="86347"/>
                </a:lnTo>
                <a:lnTo>
                  <a:pt x="269798" y="77050"/>
                </a:lnTo>
                <a:lnTo>
                  <a:pt x="271614" y="74510"/>
                </a:lnTo>
                <a:lnTo>
                  <a:pt x="279882" y="62877"/>
                </a:lnTo>
                <a:lnTo>
                  <a:pt x="283540" y="44919"/>
                </a:lnTo>
                <a:close/>
              </a:path>
              <a:path w="448309" h="90170">
                <a:moveTo>
                  <a:pt x="368554" y="1574"/>
                </a:moveTo>
                <a:lnTo>
                  <a:pt x="349123" y="1574"/>
                </a:lnTo>
                <a:lnTo>
                  <a:pt x="327926" y="67932"/>
                </a:lnTo>
                <a:lnTo>
                  <a:pt x="327609" y="67932"/>
                </a:lnTo>
                <a:lnTo>
                  <a:pt x="306438" y="1574"/>
                </a:lnTo>
                <a:lnTo>
                  <a:pt x="287020" y="1574"/>
                </a:lnTo>
                <a:lnTo>
                  <a:pt x="317182" y="88125"/>
                </a:lnTo>
                <a:lnTo>
                  <a:pt x="338378" y="88125"/>
                </a:lnTo>
                <a:lnTo>
                  <a:pt x="368554" y="1574"/>
                </a:lnTo>
                <a:close/>
              </a:path>
              <a:path w="448309" h="90170">
                <a:moveTo>
                  <a:pt x="447890" y="28486"/>
                </a:moveTo>
                <a:lnTo>
                  <a:pt x="445617" y="15913"/>
                </a:lnTo>
                <a:lnTo>
                  <a:pt x="444715" y="14719"/>
                </a:lnTo>
                <a:lnTo>
                  <a:pt x="439000" y="7023"/>
                </a:lnTo>
                <a:lnTo>
                  <a:pt x="428421" y="1752"/>
                </a:lnTo>
                <a:lnTo>
                  <a:pt x="414223" y="0"/>
                </a:lnTo>
                <a:lnTo>
                  <a:pt x="404710" y="533"/>
                </a:lnTo>
                <a:lnTo>
                  <a:pt x="395389" y="1866"/>
                </a:lnTo>
                <a:lnTo>
                  <a:pt x="387070" y="3632"/>
                </a:lnTo>
                <a:lnTo>
                  <a:pt x="380555" y="5486"/>
                </a:lnTo>
                <a:lnTo>
                  <a:pt x="384035" y="18783"/>
                </a:lnTo>
                <a:lnTo>
                  <a:pt x="390525" y="17157"/>
                </a:lnTo>
                <a:lnTo>
                  <a:pt x="397459" y="15875"/>
                </a:lnTo>
                <a:lnTo>
                  <a:pt x="404469" y="15024"/>
                </a:lnTo>
                <a:lnTo>
                  <a:pt x="411238" y="14719"/>
                </a:lnTo>
                <a:lnTo>
                  <a:pt x="421500" y="14719"/>
                </a:lnTo>
                <a:lnTo>
                  <a:pt x="430339" y="17843"/>
                </a:lnTo>
                <a:lnTo>
                  <a:pt x="430339" y="36626"/>
                </a:lnTo>
                <a:lnTo>
                  <a:pt x="430339" y="48996"/>
                </a:lnTo>
                <a:lnTo>
                  <a:pt x="430339" y="58064"/>
                </a:lnTo>
                <a:lnTo>
                  <a:pt x="428332" y="65011"/>
                </a:lnTo>
                <a:lnTo>
                  <a:pt x="423024" y="70510"/>
                </a:lnTo>
                <a:lnTo>
                  <a:pt x="415480" y="74142"/>
                </a:lnTo>
                <a:lnTo>
                  <a:pt x="406806" y="75438"/>
                </a:lnTo>
                <a:lnTo>
                  <a:pt x="398106" y="75438"/>
                </a:lnTo>
                <a:lnTo>
                  <a:pt x="390359" y="71056"/>
                </a:lnTo>
                <a:lnTo>
                  <a:pt x="390359" y="61518"/>
                </a:lnTo>
                <a:lnTo>
                  <a:pt x="392442" y="54254"/>
                </a:lnTo>
                <a:lnTo>
                  <a:pt x="397827" y="50025"/>
                </a:lnTo>
                <a:lnTo>
                  <a:pt x="405168" y="48069"/>
                </a:lnTo>
                <a:lnTo>
                  <a:pt x="413131" y="47586"/>
                </a:lnTo>
                <a:lnTo>
                  <a:pt x="421500" y="47586"/>
                </a:lnTo>
                <a:lnTo>
                  <a:pt x="430339" y="48996"/>
                </a:lnTo>
                <a:lnTo>
                  <a:pt x="430339" y="36626"/>
                </a:lnTo>
                <a:lnTo>
                  <a:pt x="420395" y="34912"/>
                </a:lnTo>
                <a:lnTo>
                  <a:pt x="410121" y="34912"/>
                </a:lnTo>
                <a:lnTo>
                  <a:pt x="395757" y="36296"/>
                </a:lnTo>
                <a:lnTo>
                  <a:pt x="383882" y="40894"/>
                </a:lnTo>
                <a:lnTo>
                  <a:pt x="375805" y="49301"/>
                </a:lnTo>
                <a:lnTo>
                  <a:pt x="372821" y="62141"/>
                </a:lnTo>
                <a:lnTo>
                  <a:pt x="375145" y="73837"/>
                </a:lnTo>
                <a:lnTo>
                  <a:pt x="381635" y="82486"/>
                </a:lnTo>
                <a:lnTo>
                  <a:pt x="391629" y="87845"/>
                </a:lnTo>
                <a:lnTo>
                  <a:pt x="404431" y="89687"/>
                </a:lnTo>
                <a:lnTo>
                  <a:pt x="414032" y="88734"/>
                </a:lnTo>
                <a:lnTo>
                  <a:pt x="421754" y="86004"/>
                </a:lnTo>
                <a:lnTo>
                  <a:pt x="427609" y="81762"/>
                </a:lnTo>
                <a:lnTo>
                  <a:pt x="431609" y="76225"/>
                </a:lnTo>
                <a:lnTo>
                  <a:pt x="431609" y="88125"/>
                </a:lnTo>
                <a:lnTo>
                  <a:pt x="447890" y="88125"/>
                </a:lnTo>
                <a:lnTo>
                  <a:pt x="447890" y="76225"/>
                </a:lnTo>
                <a:lnTo>
                  <a:pt x="447890" y="75438"/>
                </a:lnTo>
                <a:lnTo>
                  <a:pt x="447890" y="47586"/>
                </a:lnTo>
                <a:lnTo>
                  <a:pt x="447890" y="36626"/>
                </a:lnTo>
                <a:lnTo>
                  <a:pt x="447890" y="28486"/>
                </a:lnTo>
                <a:close/>
              </a:path>
            </a:pathLst>
          </a:custGeom>
          <a:solidFill>
            <a:srgbClr val="00347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11"/>
          <p:cNvSpPr/>
          <p:nvPr/>
        </p:nvSpPr>
        <p:spPr>
          <a:xfrm>
            <a:off x="1855639" y="6343937"/>
            <a:ext cx="28787" cy="160019"/>
          </a:xfrm>
          <a:custGeom>
            <a:avLst/>
            <a:gdLst/>
            <a:ahLst/>
            <a:cxnLst/>
            <a:rect l="l" t="t" r="r" b="b"/>
            <a:pathLst>
              <a:path w="21590" h="120014">
                <a:moveTo>
                  <a:pt x="19596" y="33489"/>
                </a:moveTo>
                <a:lnTo>
                  <a:pt x="1892" y="33489"/>
                </a:lnTo>
                <a:lnTo>
                  <a:pt x="1892" y="119888"/>
                </a:lnTo>
                <a:lnTo>
                  <a:pt x="19596" y="119888"/>
                </a:lnTo>
                <a:lnTo>
                  <a:pt x="19596" y="33489"/>
                </a:lnTo>
                <a:close/>
              </a:path>
              <a:path w="21590" h="120014">
                <a:moveTo>
                  <a:pt x="21488" y="5003"/>
                </a:moveTo>
                <a:lnTo>
                  <a:pt x="16916" y="0"/>
                </a:lnTo>
                <a:lnTo>
                  <a:pt x="10744" y="0"/>
                </a:lnTo>
                <a:lnTo>
                  <a:pt x="4584" y="0"/>
                </a:lnTo>
                <a:lnTo>
                  <a:pt x="0" y="5003"/>
                </a:lnTo>
                <a:lnTo>
                  <a:pt x="0" y="16738"/>
                </a:lnTo>
                <a:lnTo>
                  <a:pt x="4584" y="21590"/>
                </a:lnTo>
                <a:lnTo>
                  <a:pt x="16751" y="21590"/>
                </a:lnTo>
                <a:lnTo>
                  <a:pt x="21488" y="16738"/>
                </a:lnTo>
                <a:lnTo>
                  <a:pt x="21488" y="5003"/>
                </a:lnTo>
                <a:close/>
              </a:path>
            </a:pathLst>
          </a:custGeom>
          <a:solidFill>
            <a:srgbClr val="00347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12"/>
          <p:cNvSpPr/>
          <p:nvPr/>
        </p:nvSpPr>
        <p:spPr>
          <a:xfrm>
            <a:off x="1109455" y="6343937"/>
            <a:ext cx="28787" cy="160019"/>
          </a:xfrm>
          <a:custGeom>
            <a:avLst/>
            <a:gdLst/>
            <a:ahLst/>
            <a:cxnLst/>
            <a:rect l="l" t="t" r="r" b="b"/>
            <a:pathLst>
              <a:path w="21590" h="120014">
                <a:moveTo>
                  <a:pt x="19443" y="33489"/>
                </a:moveTo>
                <a:lnTo>
                  <a:pt x="1739" y="33489"/>
                </a:lnTo>
                <a:lnTo>
                  <a:pt x="1739" y="119888"/>
                </a:lnTo>
                <a:lnTo>
                  <a:pt x="19443" y="119888"/>
                </a:lnTo>
                <a:lnTo>
                  <a:pt x="19443" y="33489"/>
                </a:lnTo>
                <a:close/>
              </a:path>
              <a:path w="21590" h="120014">
                <a:moveTo>
                  <a:pt x="21348" y="5003"/>
                </a:moveTo>
                <a:lnTo>
                  <a:pt x="16764" y="0"/>
                </a:lnTo>
                <a:lnTo>
                  <a:pt x="10591" y="0"/>
                </a:lnTo>
                <a:lnTo>
                  <a:pt x="4432" y="0"/>
                </a:lnTo>
                <a:lnTo>
                  <a:pt x="0" y="5003"/>
                </a:lnTo>
                <a:lnTo>
                  <a:pt x="0" y="16738"/>
                </a:lnTo>
                <a:lnTo>
                  <a:pt x="4432" y="21590"/>
                </a:lnTo>
                <a:lnTo>
                  <a:pt x="16598" y="21590"/>
                </a:lnTo>
                <a:lnTo>
                  <a:pt x="21348" y="16738"/>
                </a:lnTo>
                <a:lnTo>
                  <a:pt x="21348" y="5003"/>
                </a:lnTo>
                <a:close/>
              </a:path>
            </a:pathLst>
          </a:custGeom>
          <a:solidFill>
            <a:srgbClr val="003478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3" name="object 13"/>
          <p:cNvSpPr/>
          <p:nvPr/>
        </p:nvSpPr>
        <p:spPr>
          <a:xfrm>
            <a:off x="9725778" y="6160988"/>
            <a:ext cx="1931247" cy="354753"/>
          </a:xfrm>
          <a:custGeom>
            <a:avLst/>
            <a:gdLst/>
            <a:ahLst/>
            <a:cxnLst/>
            <a:rect l="l" t="t" r="r" b="b"/>
            <a:pathLst>
              <a:path w="1448434" h="266064">
                <a:moveTo>
                  <a:pt x="332466" y="5121"/>
                </a:moveTo>
                <a:lnTo>
                  <a:pt x="254334" y="5121"/>
                </a:lnTo>
                <a:lnTo>
                  <a:pt x="254334" y="260083"/>
                </a:lnTo>
                <a:lnTo>
                  <a:pt x="332467" y="260083"/>
                </a:lnTo>
                <a:lnTo>
                  <a:pt x="332466" y="159934"/>
                </a:lnTo>
                <a:lnTo>
                  <a:pt x="490782" y="159934"/>
                </a:lnTo>
                <a:lnTo>
                  <a:pt x="490781" y="106794"/>
                </a:lnTo>
                <a:lnTo>
                  <a:pt x="332466" y="106794"/>
                </a:lnTo>
                <a:lnTo>
                  <a:pt x="332466" y="5121"/>
                </a:lnTo>
                <a:close/>
              </a:path>
              <a:path w="1448434" h="266064">
                <a:moveTo>
                  <a:pt x="490782" y="159934"/>
                </a:moveTo>
                <a:lnTo>
                  <a:pt x="413167" y="159934"/>
                </a:lnTo>
                <a:lnTo>
                  <a:pt x="413167" y="260083"/>
                </a:lnTo>
                <a:lnTo>
                  <a:pt x="490782" y="260083"/>
                </a:lnTo>
                <a:lnTo>
                  <a:pt x="490782" y="159934"/>
                </a:lnTo>
                <a:close/>
              </a:path>
              <a:path w="1448434" h="266064">
                <a:moveTo>
                  <a:pt x="490781" y="5121"/>
                </a:moveTo>
                <a:lnTo>
                  <a:pt x="413166" y="5121"/>
                </a:lnTo>
                <a:lnTo>
                  <a:pt x="413166" y="106794"/>
                </a:lnTo>
                <a:lnTo>
                  <a:pt x="490781" y="106794"/>
                </a:lnTo>
                <a:lnTo>
                  <a:pt x="490781" y="5121"/>
                </a:lnTo>
                <a:close/>
              </a:path>
              <a:path w="1448434" h="266064">
                <a:moveTo>
                  <a:pt x="761460" y="5121"/>
                </a:moveTo>
                <a:lnTo>
                  <a:pt x="683828" y="5121"/>
                </a:lnTo>
                <a:lnTo>
                  <a:pt x="683828" y="260083"/>
                </a:lnTo>
                <a:lnTo>
                  <a:pt x="824270" y="260083"/>
                </a:lnTo>
                <a:lnTo>
                  <a:pt x="836025" y="208986"/>
                </a:lnTo>
                <a:lnTo>
                  <a:pt x="761460" y="208986"/>
                </a:lnTo>
                <a:lnTo>
                  <a:pt x="761460" y="5121"/>
                </a:lnTo>
                <a:close/>
              </a:path>
              <a:path w="1448434" h="266064">
                <a:moveTo>
                  <a:pt x="626121" y="5121"/>
                </a:moveTo>
                <a:lnTo>
                  <a:pt x="548488" y="5121"/>
                </a:lnTo>
                <a:lnTo>
                  <a:pt x="548489" y="260083"/>
                </a:lnTo>
                <a:lnTo>
                  <a:pt x="626121" y="260083"/>
                </a:lnTo>
                <a:lnTo>
                  <a:pt x="626121" y="5121"/>
                </a:lnTo>
                <a:close/>
              </a:path>
              <a:path w="1448434" h="266064">
                <a:moveTo>
                  <a:pt x="941734" y="5121"/>
                </a:moveTo>
                <a:lnTo>
                  <a:pt x="864119" y="5121"/>
                </a:lnTo>
                <a:lnTo>
                  <a:pt x="864120" y="260083"/>
                </a:lnTo>
                <a:lnTo>
                  <a:pt x="941735" y="260083"/>
                </a:lnTo>
                <a:lnTo>
                  <a:pt x="941734" y="5121"/>
                </a:lnTo>
                <a:close/>
              </a:path>
              <a:path w="1448434" h="266064">
                <a:moveTo>
                  <a:pt x="1239991" y="194169"/>
                </a:moveTo>
                <a:lnTo>
                  <a:pt x="1248162" y="252418"/>
                </a:lnTo>
                <a:lnTo>
                  <a:pt x="1287999" y="262318"/>
                </a:lnTo>
                <a:lnTo>
                  <a:pt x="1329362" y="265703"/>
                </a:lnTo>
                <a:lnTo>
                  <a:pt x="1375237" y="261352"/>
                </a:lnTo>
                <a:lnTo>
                  <a:pt x="1412925" y="246989"/>
                </a:lnTo>
                <a:lnTo>
                  <a:pt x="1438452" y="220651"/>
                </a:lnTo>
                <a:lnTo>
                  <a:pt x="1439981" y="214095"/>
                </a:lnTo>
                <a:lnTo>
                  <a:pt x="1328345" y="214095"/>
                </a:lnTo>
                <a:lnTo>
                  <a:pt x="1307067" y="212635"/>
                </a:lnTo>
                <a:lnTo>
                  <a:pt x="1283399" y="208539"/>
                </a:lnTo>
                <a:lnTo>
                  <a:pt x="1260116" y="202241"/>
                </a:lnTo>
                <a:lnTo>
                  <a:pt x="1239991" y="194169"/>
                </a:lnTo>
                <a:close/>
              </a:path>
              <a:path w="1448434" h="266064">
                <a:moveTo>
                  <a:pt x="1352854" y="0"/>
                </a:moveTo>
                <a:lnTo>
                  <a:pt x="1309839" y="4646"/>
                </a:lnTo>
                <a:lnTo>
                  <a:pt x="1276446" y="18777"/>
                </a:lnTo>
                <a:lnTo>
                  <a:pt x="1254829" y="42683"/>
                </a:lnTo>
                <a:lnTo>
                  <a:pt x="1247144" y="76653"/>
                </a:lnTo>
                <a:lnTo>
                  <a:pt x="1259785" y="118758"/>
                </a:lnTo>
                <a:lnTo>
                  <a:pt x="1289930" y="143107"/>
                </a:lnTo>
                <a:lnTo>
                  <a:pt x="1325909" y="157695"/>
                </a:lnTo>
                <a:lnTo>
                  <a:pt x="1356053" y="170517"/>
                </a:lnTo>
                <a:lnTo>
                  <a:pt x="1368695" y="189570"/>
                </a:lnTo>
                <a:lnTo>
                  <a:pt x="1366411" y="200300"/>
                </a:lnTo>
                <a:lnTo>
                  <a:pt x="1359243" y="207964"/>
                </a:lnTo>
                <a:lnTo>
                  <a:pt x="1346713" y="212563"/>
                </a:lnTo>
                <a:lnTo>
                  <a:pt x="1328345" y="214095"/>
                </a:lnTo>
                <a:lnTo>
                  <a:pt x="1439981" y="214095"/>
                </a:lnTo>
                <a:lnTo>
                  <a:pt x="1447844" y="180373"/>
                </a:lnTo>
                <a:lnTo>
                  <a:pt x="1435097" y="140056"/>
                </a:lnTo>
                <a:lnTo>
                  <a:pt x="1404700" y="116466"/>
                </a:lnTo>
                <a:lnTo>
                  <a:pt x="1368420" y="102048"/>
                </a:lnTo>
                <a:lnTo>
                  <a:pt x="1338023" y="89249"/>
                </a:lnTo>
                <a:lnTo>
                  <a:pt x="1325276" y="70514"/>
                </a:lnTo>
                <a:lnTo>
                  <a:pt x="1327782" y="61283"/>
                </a:lnTo>
                <a:lnTo>
                  <a:pt x="1334980" y="54929"/>
                </a:lnTo>
                <a:lnTo>
                  <a:pt x="1346393" y="51259"/>
                </a:lnTo>
                <a:lnTo>
                  <a:pt x="1361541" y="50079"/>
                </a:lnTo>
                <a:lnTo>
                  <a:pt x="1429079" y="50079"/>
                </a:lnTo>
                <a:lnTo>
                  <a:pt x="1424350" y="7156"/>
                </a:lnTo>
                <a:lnTo>
                  <a:pt x="1409230" y="4314"/>
                </a:lnTo>
                <a:lnTo>
                  <a:pt x="1393392" y="2045"/>
                </a:lnTo>
                <a:lnTo>
                  <a:pt x="1375158" y="543"/>
                </a:lnTo>
                <a:lnTo>
                  <a:pt x="1352854" y="0"/>
                </a:lnTo>
                <a:close/>
              </a:path>
              <a:path w="1448434" h="266064">
                <a:moveTo>
                  <a:pt x="1429079" y="50079"/>
                </a:moveTo>
                <a:lnTo>
                  <a:pt x="1361541" y="50079"/>
                </a:lnTo>
                <a:lnTo>
                  <a:pt x="1380141" y="50996"/>
                </a:lnTo>
                <a:lnTo>
                  <a:pt x="1398502" y="53590"/>
                </a:lnTo>
                <a:lnTo>
                  <a:pt x="1415620" y="57623"/>
                </a:lnTo>
                <a:lnTo>
                  <a:pt x="1430486" y="62857"/>
                </a:lnTo>
                <a:lnTo>
                  <a:pt x="1429079" y="50079"/>
                </a:lnTo>
                <a:close/>
              </a:path>
              <a:path w="1448434" h="266064">
                <a:moveTo>
                  <a:pt x="1094948" y="0"/>
                </a:moveTo>
                <a:lnTo>
                  <a:pt x="1046173" y="1409"/>
                </a:lnTo>
                <a:lnTo>
                  <a:pt x="1000587" y="5110"/>
                </a:lnTo>
                <a:lnTo>
                  <a:pt x="1000476" y="260083"/>
                </a:lnTo>
                <a:lnTo>
                  <a:pt x="1078091" y="260083"/>
                </a:lnTo>
                <a:lnTo>
                  <a:pt x="1078091" y="199279"/>
                </a:lnTo>
                <a:lnTo>
                  <a:pt x="1105669" y="199279"/>
                </a:lnTo>
                <a:lnTo>
                  <a:pt x="1154781" y="192436"/>
                </a:lnTo>
                <a:lnTo>
                  <a:pt x="1192109" y="172517"/>
                </a:lnTo>
                <a:lnTo>
                  <a:pt x="1206327" y="153292"/>
                </a:lnTo>
                <a:lnTo>
                  <a:pt x="1078091" y="153292"/>
                </a:lnTo>
                <a:lnTo>
                  <a:pt x="1078091" y="48027"/>
                </a:lnTo>
                <a:lnTo>
                  <a:pt x="1212069" y="48027"/>
                </a:lnTo>
                <a:lnTo>
                  <a:pt x="1189618" y="21719"/>
                </a:lnTo>
                <a:lnTo>
                  <a:pt x="1148963" y="5110"/>
                </a:lnTo>
                <a:lnTo>
                  <a:pt x="1094948" y="0"/>
                </a:lnTo>
                <a:close/>
              </a:path>
              <a:path w="1448434" h="266064">
                <a:moveTo>
                  <a:pt x="1212069" y="48027"/>
                </a:moveTo>
                <a:lnTo>
                  <a:pt x="1090863" y="48027"/>
                </a:lnTo>
                <a:lnTo>
                  <a:pt x="1115797" y="51324"/>
                </a:lnTo>
                <a:lnTo>
                  <a:pt x="1133311" y="60993"/>
                </a:lnTo>
                <a:lnTo>
                  <a:pt x="1143645" y="76699"/>
                </a:lnTo>
                <a:lnTo>
                  <a:pt x="1147036" y="98108"/>
                </a:lnTo>
                <a:lnTo>
                  <a:pt x="1143933" y="120742"/>
                </a:lnTo>
                <a:lnTo>
                  <a:pt x="1134081" y="138154"/>
                </a:lnTo>
                <a:lnTo>
                  <a:pt x="1116663" y="149340"/>
                </a:lnTo>
                <a:lnTo>
                  <a:pt x="1090863" y="153292"/>
                </a:lnTo>
                <a:lnTo>
                  <a:pt x="1206327" y="153292"/>
                </a:lnTo>
                <a:lnTo>
                  <a:pt x="1215838" y="140430"/>
                </a:lnTo>
                <a:lnTo>
                  <a:pt x="1224151" y="97087"/>
                </a:lnTo>
                <a:lnTo>
                  <a:pt x="1215239" y="51740"/>
                </a:lnTo>
                <a:lnTo>
                  <a:pt x="1212069" y="48027"/>
                </a:lnTo>
                <a:close/>
              </a:path>
              <a:path w="1448434" h="266064">
                <a:moveTo>
                  <a:pt x="94990" y="0"/>
                </a:moveTo>
                <a:lnTo>
                  <a:pt x="45771" y="1409"/>
                </a:lnTo>
                <a:lnTo>
                  <a:pt x="111" y="5110"/>
                </a:lnTo>
                <a:lnTo>
                  <a:pt x="0" y="260083"/>
                </a:lnTo>
                <a:lnTo>
                  <a:pt x="77626" y="260083"/>
                </a:lnTo>
                <a:lnTo>
                  <a:pt x="77626" y="199279"/>
                </a:lnTo>
                <a:lnTo>
                  <a:pt x="105204" y="199279"/>
                </a:lnTo>
                <a:lnTo>
                  <a:pt x="154310" y="192436"/>
                </a:lnTo>
                <a:lnTo>
                  <a:pt x="191639" y="172517"/>
                </a:lnTo>
                <a:lnTo>
                  <a:pt x="205859" y="153292"/>
                </a:lnTo>
                <a:lnTo>
                  <a:pt x="77626" y="153292"/>
                </a:lnTo>
                <a:lnTo>
                  <a:pt x="77626" y="48027"/>
                </a:lnTo>
                <a:lnTo>
                  <a:pt x="211621" y="48027"/>
                </a:lnTo>
                <a:lnTo>
                  <a:pt x="189218" y="21719"/>
                </a:lnTo>
                <a:lnTo>
                  <a:pt x="148713" y="5110"/>
                </a:lnTo>
                <a:lnTo>
                  <a:pt x="94990" y="0"/>
                </a:lnTo>
                <a:close/>
              </a:path>
              <a:path w="1448434" h="266064">
                <a:moveTo>
                  <a:pt x="211621" y="48027"/>
                </a:moveTo>
                <a:lnTo>
                  <a:pt x="90394" y="48027"/>
                </a:lnTo>
                <a:lnTo>
                  <a:pt x="115411" y="51324"/>
                </a:lnTo>
                <a:lnTo>
                  <a:pt x="133101" y="60993"/>
                </a:lnTo>
                <a:lnTo>
                  <a:pt x="143610" y="76699"/>
                </a:lnTo>
                <a:lnTo>
                  <a:pt x="147081" y="98108"/>
                </a:lnTo>
                <a:lnTo>
                  <a:pt x="143898" y="120742"/>
                </a:lnTo>
                <a:lnTo>
                  <a:pt x="133867" y="138154"/>
                </a:lnTo>
                <a:lnTo>
                  <a:pt x="116273" y="149340"/>
                </a:lnTo>
                <a:lnTo>
                  <a:pt x="90395" y="153292"/>
                </a:lnTo>
                <a:lnTo>
                  <a:pt x="205859" y="153292"/>
                </a:lnTo>
                <a:lnTo>
                  <a:pt x="215372" y="140430"/>
                </a:lnTo>
                <a:lnTo>
                  <a:pt x="223688" y="97087"/>
                </a:lnTo>
                <a:lnTo>
                  <a:pt x="214783" y="51740"/>
                </a:lnTo>
                <a:lnTo>
                  <a:pt x="211621" y="48027"/>
                </a:lnTo>
                <a:close/>
              </a:path>
            </a:pathLst>
          </a:custGeom>
          <a:solidFill>
            <a:srgbClr val="0A5ED6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1058401" y="4368162"/>
            <a:ext cx="2527300" cy="855789"/>
          </a:xfrm>
          <a:prstGeom prst="rect">
            <a:avLst/>
          </a:prstGeom>
        </p:spPr>
        <p:txBody>
          <a:bodyPr vert="horz" wrap="square" lIns="0" tIns="184573" rIns="0" bIns="0" rtlCol="0">
            <a:spAutoFit/>
          </a:bodyPr>
          <a:lstStyle/>
          <a:p>
            <a:pPr marL="16933">
              <a:spcBef>
                <a:spcPts val="1453"/>
              </a:spcBef>
            </a:pPr>
            <a:r>
              <a:rPr sz="2133" spc="-13" dirty="0">
                <a:solidFill>
                  <a:srgbClr val="FFFFFF"/>
                </a:solidFill>
                <a:latin typeface="Carlito"/>
                <a:cs typeface="Carlito"/>
              </a:rPr>
              <a:t>Avent</a:t>
            </a:r>
            <a:r>
              <a:rPr sz="2133" spc="-87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133" dirty="0">
                <a:solidFill>
                  <a:srgbClr val="FFFFFF"/>
                </a:solidFill>
                <a:latin typeface="Carlito"/>
                <a:cs typeface="Carlito"/>
              </a:rPr>
              <a:t>Product</a:t>
            </a:r>
            <a:r>
              <a:rPr sz="2133" spc="-73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133" spc="-13" dirty="0">
                <a:solidFill>
                  <a:srgbClr val="FFFFFF"/>
                </a:solidFill>
                <a:latin typeface="Carlito"/>
                <a:cs typeface="Carlito"/>
              </a:rPr>
              <a:t>Training</a:t>
            </a:r>
            <a:endParaRPr sz="2133" dirty="0">
              <a:latin typeface="Carlito"/>
              <a:cs typeface="Carlito"/>
            </a:endParaRPr>
          </a:p>
          <a:p>
            <a:pPr marL="16933">
              <a:spcBef>
                <a:spcPts val="920"/>
              </a:spcBef>
            </a:pPr>
            <a:r>
              <a:rPr sz="1467" spc="-27" dirty="0">
                <a:solidFill>
                  <a:srgbClr val="FFFFFF"/>
                </a:solidFill>
                <a:latin typeface="Carlito"/>
                <a:cs typeface="Carlito"/>
              </a:rPr>
              <a:t>202</a:t>
            </a:r>
            <a:r>
              <a:rPr lang="en-ZA" sz="1467" spc="-27" dirty="0">
                <a:solidFill>
                  <a:srgbClr val="FFFFFF"/>
                </a:solidFill>
                <a:latin typeface="Carlito"/>
                <a:cs typeface="Carlito"/>
              </a:rPr>
              <a:t>6</a:t>
            </a:r>
            <a:endParaRPr sz="1467" dirty="0">
              <a:latin typeface="Carlito"/>
              <a:cs typeface="Carli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16542" y="3350429"/>
            <a:ext cx="1677247" cy="836918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5333" b="1" spc="-40" dirty="0">
                <a:solidFill>
                  <a:srgbClr val="FFFFFF"/>
                </a:solidFill>
                <a:latin typeface="Carlito"/>
                <a:cs typeface="Carlito"/>
              </a:rPr>
              <a:t>Avent</a:t>
            </a:r>
            <a:endParaRPr sz="5333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98ADEAF3-30B2-450C-8736-B96371C4312A}"/>
              </a:ext>
            </a:extLst>
          </p:cNvPr>
          <p:cNvSpPr txBox="1">
            <a:spLocks/>
          </p:cNvSpPr>
          <p:nvPr/>
        </p:nvSpPr>
        <p:spPr>
          <a:xfrm>
            <a:off x="695329" y="5068277"/>
            <a:ext cx="2448060" cy="561679"/>
          </a:xfrm>
          <a:prstGeom prst="rect">
            <a:avLst/>
          </a:prstGeom>
        </p:spPr>
        <p:txBody>
          <a:bodyPr/>
          <a:lstStyle>
            <a:lvl1pPr marL="144000" indent="-144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5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ZA" sz="1867" dirty="0">
                <a:latin typeface="Neue Frutiger World Light" panose="020B0403040304020203" pitchFamily="34" charset="0"/>
                <a:cs typeface="Neue Frutiger World Light" panose="020B0403040304020203" pitchFamily="34" charset="0"/>
              </a:rPr>
              <a:t>A light, breathable soother for (baby’s) dry skin. </a:t>
            </a:r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7DC3187B-2B5F-46EE-B101-2963342DD229}"/>
              </a:ext>
            </a:extLst>
          </p:cNvPr>
          <p:cNvSpPr txBox="1">
            <a:spLocks/>
          </p:cNvSpPr>
          <p:nvPr/>
        </p:nvSpPr>
        <p:spPr>
          <a:xfrm>
            <a:off x="4823982" y="5068277"/>
            <a:ext cx="2448060" cy="561679"/>
          </a:xfrm>
          <a:prstGeom prst="rect">
            <a:avLst/>
          </a:prstGeom>
        </p:spPr>
        <p:txBody>
          <a:bodyPr/>
          <a:lstStyle>
            <a:lvl1pPr marL="144000" indent="-144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5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ZA" sz="1867" dirty="0">
                <a:latin typeface="Neue Frutiger World Light" panose="020B0403040304020203" pitchFamily="34" charset="0"/>
                <a:cs typeface="Neue Frutiger World Light" panose="020B0403040304020203" pitchFamily="34" charset="0"/>
              </a:rPr>
              <a:t>A light, breathable soother for (baby’s) dry skin. 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F7AA2D9F-4FBF-4102-BEFC-886F98C88295}"/>
              </a:ext>
            </a:extLst>
          </p:cNvPr>
          <p:cNvSpPr txBox="1">
            <a:spLocks/>
          </p:cNvSpPr>
          <p:nvPr/>
        </p:nvSpPr>
        <p:spPr>
          <a:xfrm>
            <a:off x="8856430" y="5072146"/>
            <a:ext cx="2448060" cy="561679"/>
          </a:xfrm>
          <a:prstGeom prst="rect">
            <a:avLst/>
          </a:prstGeom>
        </p:spPr>
        <p:txBody>
          <a:bodyPr/>
          <a:lstStyle>
            <a:lvl1pPr marL="144000" indent="-144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5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b="0" i="0" kern="1200" dirty="0">
                <a:solidFill>
                  <a:schemeClr val="tx1"/>
                </a:solidFill>
                <a:latin typeface="+mn-lt"/>
                <a:ea typeface="+mn-ea"/>
                <a:cs typeface="Calibri Light" panose="020F0302020204030204" pitchFamily="34" charset="0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ZA" sz="1867" dirty="0">
                <a:latin typeface="Neue Frutiger World Light" panose="020B0403040304020203" pitchFamily="34" charset="0"/>
                <a:cs typeface="Neue Frutiger World Light" panose="020B0403040304020203" pitchFamily="34" charset="0"/>
              </a:rPr>
              <a:t>A light, breathable soother with glow in the dark handle for night-time.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33305FA-1EB1-422A-BF3A-6CD78897C0D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41650" y="3479711"/>
            <a:ext cx="1670493" cy="13929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4FF90C8-B414-4A5F-9545-E0EC61DFDB9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041" y="3471151"/>
            <a:ext cx="1822187" cy="15397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FAC7AD-566E-43B6-8046-A56C9CC3518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19164" y="3471152"/>
            <a:ext cx="1719563" cy="15397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D9497B-6DA4-4BC8-8A33-B461302C9E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48013" y="3471150"/>
            <a:ext cx="1670495" cy="139291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F1B4DE-E483-4ED3-BBE8-D6394FF169D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52268" y="3527124"/>
            <a:ext cx="3560285" cy="1389281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234644A-D8C3-4B56-826E-71212EFD9D70}"/>
              </a:ext>
            </a:extLst>
          </p:cNvPr>
          <p:cNvSpPr/>
          <p:nvPr/>
        </p:nvSpPr>
        <p:spPr>
          <a:xfrm>
            <a:off x="575404" y="2180862"/>
            <a:ext cx="2952325" cy="5811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133" b="1" dirty="0">
                <a:solidFill>
                  <a:schemeClr val="tx1">
                    <a:lumMod val="85000"/>
                    <a:lumOff val="15000"/>
                  </a:schemeClr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Ultra Air</a:t>
            </a:r>
            <a:endParaRPr lang="en-US" sz="2133" b="1" dirty="0">
              <a:solidFill>
                <a:schemeClr val="tx1">
                  <a:lumMod val="85000"/>
                  <a:lumOff val="15000"/>
                </a:schemeClr>
              </a:solidFill>
              <a:latin typeface="Neue Frutiger World" panose="020B0603040304020203" pitchFamily="34" charset="0"/>
              <a:cs typeface="Neue Frutiger World" panose="020B0603040304020203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37CF8A-67EB-4073-A0DF-7600E775CD4E}"/>
              </a:ext>
            </a:extLst>
          </p:cNvPr>
          <p:cNvGrpSpPr/>
          <p:nvPr/>
        </p:nvGrpSpPr>
        <p:grpSpPr>
          <a:xfrm>
            <a:off x="233021" y="2249284"/>
            <a:ext cx="1189536" cy="1068540"/>
            <a:chOff x="391176" y="2427734"/>
            <a:chExt cx="612068" cy="5040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5C0C687-2713-4FA1-BD52-9F3B561778D7}"/>
                </a:ext>
              </a:extLst>
            </p:cNvPr>
            <p:cNvSpPr/>
            <p:nvPr/>
          </p:nvSpPr>
          <p:spPr>
            <a:xfrm>
              <a:off x="395536" y="2427734"/>
              <a:ext cx="576064" cy="504056"/>
            </a:xfrm>
            <a:prstGeom prst="ellipse">
              <a:avLst/>
            </a:prstGeom>
            <a:solidFill>
              <a:schemeClr val="accent6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33" dirty="0">
                <a:latin typeface="Neue Frutiger World" panose="020B0603040304020203" pitchFamily="34" charset="0"/>
                <a:cs typeface="Neue Frutiger World" panose="020B0603040304020203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37EE3B-9AD3-4862-A32A-9DCF88ABFC1E}"/>
                </a:ext>
              </a:extLst>
            </p:cNvPr>
            <p:cNvSpPr txBox="1"/>
            <p:nvPr/>
          </p:nvSpPr>
          <p:spPr>
            <a:xfrm>
              <a:off x="391176" y="2508494"/>
              <a:ext cx="612068" cy="363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1467" dirty="0">
                  <a:solidFill>
                    <a:schemeClr val="bg1"/>
                  </a:solidFill>
                  <a:latin typeface="Neue Frutiger World" panose="020B0603040304020203" pitchFamily="34" charset="0"/>
                  <a:cs typeface="Neue Frutiger World" panose="020B0603040304020203" pitchFamily="34" charset="0"/>
                </a:rPr>
                <a:t>For baby’s skin to breathe.</a:t>
              </a:r>
              <a:endParaRPr lang="en-US" sz="1467" dirty="0">
                <a:solidFill>
                  <a:schemeClr val="bg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BEE55A4-8B1C-4F1E-A779-360D41924A92}"/>
              </a:ext>
            </a:extLst>
          </p:cNvPr>
          <p:cNvSpPr/>
          <p:nvPr/>
        </p:nvSpPr>
        <p:spPr>
          <a:xfrm>
            <a:off x="4584106" y="2180862"/>
            <a:ext cx="2952325" cy="581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133" b="1" dirty="0">
                <a:solidFill>
                  <a:schemeClr val="tx1">
                    <a:lumMod val="85000"/>
                    <a:lumOff val="15000"/>
                  </a:schemeClr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 Ultra Air Collection</a:t>
            </a:r>
            <a:endParaRPr lang="en-US" sz="2133" b="1" dirty="0">
              <a:solidFill>
                <a:schemeClr val="tx1">
                  <a:lumMod val="85000"/>
                  <a:lumOff val="15000"/>
                </a:schemeClr>
              </a:solidFill>
              <a:latin typeface="Neue Frutiger World" panose="020B0603040304020203" pitchFamily="34" charset="0"/>
              <a:cs typeface="Neue Frutiger World" panose="020B0603040304020203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D07477-6830-47D2-A806-EC750E68DBC8}"/>
              </a:ext>
            </a:extLst>
          </p:cNvPr>
          <p:cNvSpPr/>
          <p:nvPr/>
        </p:nvSpPr>
        <p:spPr>
          <a:xfrm>
            <a:off x="8760316" y="2180862"/>
            <a:ext cx="2952325" cy="581165"/>
          </a:xfrm>
          <a:prstGeom prst="rect">
            <a:avLst/>
          </a:prstGeom>
          <a:solidFill>
            <a:srgbClr val="FFCCFF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133" b="1" dirty="0">
                <a:solidFill>
                  <a:schemeClr val="tx1">
                    <a:lumMod val="85000"/>
                    <a:lumOff val="15000"/>
                  </a:schemeClr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Ultra Air Night-time</a:t>
            </a:r>
            <a:endParaRPr lang="en-US" sz="2133" b="1" dirty="0">
              <a:solidFill>
                <a:schemeClr val="tx1">
                  <a:lumMod val="85000"/>
                  <a:lumOff val="15000"/>
                </a:schemeClr>
              </a:solidFill>
              <a:latin typeface="Neue Frutiger World" panose="020B0603040304020203" pitchFamily="34" charset="0"/>
              <a:cs typeface="Neue Frutiger World" panose="020B06030403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3F8A9A-BA64-431B-AC70-84FA560FF441}"/>
              </a:ext>
            </a:extLst>
          </p:cNvPr>
          <p:cNvGrpSpPr/>
          <p:nvPr/>
        </p:nvGrpSpPr>
        <p:grpSpPr>
          <a:xfrm>
            <a:off x="3688896" y="2284189"/>
            <a:ext cx="1168736" cy="1097698"/>
            <a:chOff x="395536" y="2427733"/>
            <a:chExt cx="585392" cy="5040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0CF846-064D-4984-B2C2-8E829CF317E6}"/>
                </a:ext>
              </a:extLst>
            </p:cNvPr>
            <p:cNvSpPr/>
            <p:nvPr/>
          </p:nvSpPr>
          <p:spPr>
            <a:xfrm>
              <a:off x="395536" y="2427733"/>
              <a:ext cx="576064" cy="50405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3" dirty="0">
                <a:latin typeface="Neue Frutiger World" panose="020B0603040304020203" pitchFamily="34" charset="0"/>
                <a:cs typeface="Neue Frutiger World" panose="020B0603040304020203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7F405F-CE84-4CFD-89BB-37155CD4674A}"/>
                </a:ext>
              </a:extLst>
            </p:cNvPr>
            <p:cNvSpPr txBox="1"/>
            <p:nvPr/>
          </p:nvSpPr>
          <p:spPr>
            <a:xfrm>
              <a:off x="395536" y="2506964"/>
              <a:ext cx="585392" cy="3534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1467" dirty="0">
                  <a:solidFill>
                    <a:schemeClr val="bg1"/>
                  </a:solidFill>
                  <a:latin typeface="Neue Frutiger World" panose="020B0603040304020203" pitchFamily="34" charset="0"/>
                  <a:cs typeface="Neue Frutiger World" panose="020B0603040304020203" pitchFamily="34" charset="0"/>
                </a:rPr>
                <a:t>Bright &amp; colourful designs.</a:t>
              </a:r>
              <a:endParaRPr lang="en-US" sz="1467" dirty="0">
                <a:solidFill>
                  <a:schemeClr val="bg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8B27E0-DAC9-4FFF-BD06-BAD4FF514127}"/>
              </a:ext>
            </a:extLst>
          </p:cNvPr>
          <p:cNvGrpSpPr/>
          <p:nvPr/>
        </p:nvGrpSpPr>
        <p:grpSpPr>
          <a:xfrm>
            <a:off x="7798129" y="1519907"/>
            <a:ext cx="1202239" cy="1129674"/>
            <a:chOff x="395536" y="2427734"/>
            <a:chExt cx="585128" cy="50405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A65F529-B332-4B8D-A92A-5CB69FFA5A81}"/>
                </a:ext>
              </a:extLst>
            </p:cNvPr>
            <p:cNvSpPr/>
            <p:nvPr/>
          </p:nvSpPr>
          <p:spPr>
            <a:xfrm>
              <a:off x="395536" y="2427734"/>
              <a:ext cx="576064" cy="504056"/>
            </a:xfrm>
            <a:prstGeom prst="ellipse">
              <a:avLst/>
            </a:prstGeom>
            <a:solidFill>
              <a:srgbClr val="FF99FF"/>
            </a:solidFill>
            <a:ln w="25400" cap="flat" cmpd="sng" algn="ctr">
              <a:noFill/>
              <a:prstDash val="soli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33" dirty="0">
                <a:latin typeface="Neue Frutiger World" panose="020B0603040304020203" pitchFamily="34" charset="0"/>
                <a:cs typeface="Neue Frutiger World" panose="020B060304030402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64EA2CB-AFE3-4D38-9612-C9380C20871D}"/>
                </a:ext>
              </a:extLst>
            </p:cNvPr>
            <p:cNvSpPr txBox="1"/>
            <p:nvPr/>
          </p:nvSpPr>
          <p:spPr>
            <a:xfrm>
              <a:off x="404600" y="2499008"/>
              <a:ext cx="576064" cy="3434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1467" dirty="0">
                  <a:solidFill>
                    <a:schemeClr val="bg1"/>
                  </a:solidFill>
                  <a:latin typeface="Neue Frutiger World" panose="020B0603040304020203" pitchFamily="34" charset="0"/>
                  <a:cs typeface="Neue Frutiger World" panose="020B0603040304020203" pitchFamily="34" charset="0"/>
                </a:rPr>
                <a:t>Easy to find in</a:t>
              </a:r>
            </a:p>
            <a:p>
              <a:pPr algn="ctr"/>
              <a:r>
                <a:rPr lang="en-ZA" sz="1467" dirty="0">
                  <a:solidFill>
                    <a:schemeClr val="bg1"/>
                  </a:solidFill>
                  <a:latin typeface="Neue Frutiger World" panose="020B0603040304020203" pitchFamily="34" charset="0"/>
                  <a:cs typeface="Neue Frutiger World" panose="020B0603040304020203" pitchFamily="34" charset="0"/>
                </a:rPr>
                <a:t>the dark.</a:t>
              </a:r>
              <a:endParaRPr lang="en-US" sz="1467" dirty="0">
                <a:solidFill>
                  <a:schemeClr val="bg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endParaRPr>
            </a:p>
          </p:txBody>
        </p:sp>
      </p:grp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5E7D34E1-7855-4D39-A687-B9FDD02E64ED}"/>
              </a:ext>
            </a:extLst>
          </p:cNvPr>
          <p:cNvSpPr txBox="1">
            <a:spLocks/>
          </p:cNvSpPr>
          <p:nvPr/>
        </p:nvSpPr>
        <p:spPr>
          <a:xfrm>
            <a:off x="498652" y="287395"/>
            <a:ext cx="8270656" cy="175416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0"/>
              </a:spcBef>
              <a:buFontTx/>
              <a:buNone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lnSpc>
                <a:spcPct val="90000"/>
              </a:lnSpc>
            </a:pPr>
            <a:r>
              <a:rPr lang="en-US" sz="4800" b="1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Soother</a:t>
            </a:r>
          </a:p>
          <a:p>
            <a:pPr defTabSz="914377">
              <a:lnSpc>
                <a:spcPct val="90000"/>
              </a:lnSpc>
            </a:pPr>
            <a:r>
              <a:rPr lang="en-US" sz="4800" dirty="0">
                <a:solidFill>
                  <a:srgbClr val="5A2781"/>
                </a:solidFill>
                <a:latin typeface="Neue Frutiger World Thin" panose="020B0303040304020203" pitchFamily="34" charset="0"/>
                <a:cs typeface="Neue Frutiger World Thin" panose="020B0303040304020203" pitchFamily="34" charset="0"/>
              </a:rPr>
              <a:t>   Range.</a:t>
            </a:r>
          </a:p>
        </p:txBody>
      </p:sp>
    </p:spTree>
    <p:extLst>
      <p:ext uri="{BB962C8B-B14F-4D97-AF65-F5344CB8AC3E}">
        <p14:creationId xmlns:p14="http://schemas.microsoft.com/office/powerpoint/2010/main" val="11888911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555" y="83817"/>
              <a:ext cx="7807452" cy="50261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327" y="109726"/>
              <a:ext cx="7705344" cy="492404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5"/>
          <p:cNvSpPr txBox="1">
            <a:spLocks/>
          </p:cNvSpPr>
          <p:nvPr/>
        </p:nvSpPr>
        <p:spPr>
          <a:xfrm>
            <a:off x="531399" y="252783"/>
            <a:ext cx="8538780" cy="175416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0"/>
              </a:spcBef>
              <a:buFontTx/>
              <a:buNone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lnSpc>
                <a:spcPct val="90000"/>
              </a:lnSpc>
            </a:pPr>
            <a:r>
              <a:rPr lang="en-US" b="1" dirty="0">
                <a:solidFill>
                  <a:srgbClr val="8345BA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Our Natural Range </a:t>
            </a:r>
          </a:p>
          <a:p>
            <a:pPr defTabSz="914377">
              <a:lnSpc>
                <a:spcPct val="90000"/>
              </a:lnSpc>
            </a:pPr>
            <a:r>
              <a:rPr lang="en-US" dirty="0">
                <a:solidFill>
                  <a:srgbClr val="8345BA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    </a:t>
            </a:r>
            <a:r>
              <a:rPr lang="en-US" dirty="0">
                <a:solidFill>
                  <a:srgbClr val="8345BA"/>
                </a:solidFill>
                <a:latin typeface="Neue Frutiger World Thin" panose="020B0303040304020203" pitchFamily="34" charset="0"/>
                <a:cs typeface="Neue Frutiger World Thin" panose="020B0303040304020203" pitchFamily="34" charset="0"/>
              </a:rPr>
              <a:t>has the following benefits.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49531" y="2065868"/>
            <a:ext cx="2203653" cy="433501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2797" y="2286824"/>
            <a:ext cx="1748899" cy="4000227"/>
          </a:xfrm>
          <a:prstGeom prst="rect">
            <a:avLst/>
          </a:prstGeom>
        </p:spPr>
      </p:pic>
      <p:sp>
        <p:nvSpPr>
          <p:cNvPr id="76" name="Rectangle 75"/>
          <p:cNvSpPr/>
          <p:nvPr/>
        </p:nvSpPr>
        <p:spPr>
          <a:xfrm>
            <a:off x="7752325" y="1918581"/>
            <a:ext cx="196117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sz="2133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Natural latch 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57147" y="3305609"/>
            <a:ext cx="3009735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sz="2133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Advanced Anti-colic valve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57147" y="4721320"/>
            <a:ext cx="1839478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sz="2133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Mix and match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57147" y="5367783"/>
            <a:ext cx="2814104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sz="2133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Simple to use and clean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29396" y="6047621"/>
            <a:ext cx="1122680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sz="2133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BPA free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752325" y="2618647"/>
            <a:ext cx="1968296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sz="2133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Wide teat range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4098" y="1776431"/>
            <a:ext cx="625893" cy="6258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0764" y="5286995"/>
            <a:ext cx="592560" cy="5925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6805" y="2456019"/>
            <a:ext cx="660481" cy="6608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7518" y="4614246"/>
            <a:ext cx="619055" cy="619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4034" y="3170612"/>
            <a:ext cx="626021" cy="6260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3983" y="3850329"/>
            <a:ext cx="786124" cy="710223"/>
          </a:xfrm>
          <a:prstGeom prst="ellipse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7757148" y="4041481"/>
            <a:ext cx="2089867" cy="4205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377"/>
            <a:r>
              <a:rPr lang="en-US" sz="2133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Ergonomic shape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1" cstate="email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4968" y="5933252"/>
            <a:ext cx="584152" cy="584152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8364" y="3518160"/>
            <a:ext cx="1664019" cy="279010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E4DD6BD-9A65-6E9D-D810-CF17910BDEC6}"/>
              </a:ext>
            </a:extLst>
          </p:cNvPr>
          <p:cNvSpPr/>
          <p:nvPr/>
        </p:nvSpPr>
        <p:spPr>
          <a:xfrm>
            <a:off x="10284274" y="945778"/>
            <a:ext cx="14301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Breastfeeding</a:t>
            </a:r>
          </a:p>
          <a:p>
            <a:pPr algn="ctr"/>
            <a:r>
              <a:rPr lang="en-US" sz="1400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friendly.</a:t>
            </a:r>
            <a:endParaRPr lang="en-US" sz="140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1684054-8974-E292-7C4E-286474402867}"/>
              </a:ext>
            </a:extLst>
          </p:cNvPr>
          <p:cNvSpPr/>
          <p:nvPr/>
        </p:nvSpPr>
        <p:spPr>
          <a:xfrm>
            <a:off x="10160905" y="352845"/>
            <a:ext cx="1676879" cy="1676879"/>
          </a:xfrm>
          <a:prstGeom prst="ellipse">
            <a:avLst/>
          </a:prstGeom>
          <a:noFill/>
          <a:ln w="25400" cap="flat" cmpd="sng" algn="ctr">
            <a:solidFill>
              <a:schemeClr val="accent3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69918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5">
            <a:extLst>
              <a:ext uri="{FF2B5EF4-FFF2-40B4-BE49-F238E27FC236}">
                <a16:creationId xmlns:a16="http://schemas.microsoft.com/office/drawing/2014/main" id="{8FD6899F-E89C-6119-82ED-3EA13A757890}"/>
              </a:ext>
            </a:extLst>
          </p:cNvPr>
          <p:cNvSpPr txBox="1">
            <a:spLocks/>
          </p:cNvSpPr>
          <p:nvPr/>
        </p:nvSpPr>
        <p:spPr>
          <a:xfrm>
            <a:off x="441625" y="152285"/>
            <a:ext cx="5468591" cy="175416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 defTabSz="914400" rtl="0" eaLnBrk="1" latinLnBrk="0" hangingPunct="1">
              <a:spcBef>
                <a:spcPts val="0"/>
              </a:spcBef>
              <a:buFontTx/>
              <a:buNone/>
              <a:defRPr sz="3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377">
              <a:lnSpc>
                <a:spcPct val="90000"/>
              </a:lnSpc>
            </a:pPr>
            <a:r>
              <a:rPr lang="en-US" sz="3733" b="1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Anti-colic Range.</a:t>
            </a:r>
          </a:p>
          <a:p>
            <a:pPr defTabSz="914377">
              <a:lnSpc>
                <a:spcPct val="90000"/>
              </a:lnSpc>
            </a:pPr>
            <a:r>
              <a:rPr lang="en-US" sz="3733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    </a:t>
            </a:r>
            <a:endParaRPr lang="en-US" sz="3733" dirty="0">
              <a:solidFill>
                <a:srgbClr val="5A2781"/>
              </a:solidFill>
              <a:latin typeface="Neue Frutiger World Thin" panose="020B0303040304020203" pitchFamily="34" charset="0"/>
              <a:cs typeface="Neue Frutiger World Thin" panose="020B03030403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75D9AC-F0DF-A9FB-41DC-7635DD7FA41B}"/>
              </a:ext>
            </a:extLst>
          </p:cNvPr>
          <p:cNvSpPr/>
          <p:nvPr/>
        </p:nvSpPr>
        <p:spPr>
          <a:xfrm>
            <a:off x="1309980" y="3304771"/>
            <a:ext cx="2710989" cy="995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67" dirty="0">
                <a:solidFill>
                  <a:schemeClr val="tx1">
                    <a:lumMod val="85000"/>
                    <a:lumOff val="15000"/>
                  </a:schemeClr>
                </a:solidFill>
                <a:latin typeface="Neue Frutiger World Light" panose="020B0403040304020203" pitchFamily="34" charset="0"/>
                <a:cs typeface="Neue Frutiger World Light" panose="020B0403040304020203" pitchFamily="34" charset="0"/>
              </a:rPr>
              <a:t>As baby feeds, the unique valve on the nipple flexes to allow air into the bottle instead of baby’s tummy.</a:t>
            </a:r>
            <a:endParaRPr lang="en-US" sz="1467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4747CC-54A2-FEDF-566F-5FCB1DF9187F}"/>
              </a:ext>
            </a:extLst>
          </p:cNvPr>
          <p:cNvSpPr/>
          <p:nvPr/>
        </p:nvSpPr>
        <p:spPr>
          <a:xfrm>
            <a:off x="1313000" y="4948521"/>
            <a:ext cx="2710989" cy="543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67" dirty="0">
                <a:solidFill>
                  <a:schemeClr val="tx1">
                    <a:lumMod val="85000"/>
                    <a:lumOff val="15000"/>
                  </a:schemeClr>
                </a:solidFill>
                <a:latin typeface="Neue Frutiger World Light" panose="020B0403040304020203" pitchFamily="34" charset="0"/>
                <a:cs typeface="Neue Frutiger World Light" panose="020B0403040304020203" pitchFamily="34" charset="0"/>
              </a:rPr>
              <a:t>Anti-leak system for a truly enjoyable feeding experience.</a:t>
            </a:r>
            <a:endParaRPr lang="en-US" sz="1467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410FA2-2C4D-D6A7-0665-7B182E097D49}"/>
              </a:ext>
            </a:extLst>
          </p:cNvPr>
          <p:cNvSpPr/>
          <p:nvPr/>
        </p:nvSpPr>
        <p:spPr>
          <a:xfrm>
            <a:off x="4632877" y="4125134"/>
            <a:ext cx="2529457" cy="769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67" dirty="0">
                <a:solidFill>
                  <a:schemeClr val="tx1">
                    <a:lumMod val="85000"/>
                    <a:lumOff val="15000"/>
                  </a:schemeClr>
                </a:solidFill>
                <a:latin typeface="Neue Frutiger World Light" panose="020B0403040304020203" pitchFamily="34" charset="0"/>
                <a:cs typeface="Neue Frutiger World Light" panose="020B0403040304020203" pitchFamily="34" charset="0"/>
              </a:rPr>
              <a:t>Comfortable shape, easy to hold even for baby’s tiny hands.</a:t>
            </a:r>
            <a:endParaRPr lang="en-US" sz="1467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0F3BFF-A458-58AE-1837-C432A03C3142}"/>
              </a:ext>
            </a:extLst>
          </p:cNvPr>
          <p:cNvSpPr/>
          <p:nvPr/>
        </p:nvSpPr>
        <p:spPr>
          <a:xfrm>
            <a:off x="633645" y="1220755"/>
            <a:ext cx="5760640" cy="1606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377">
              <a:lnSpc>
                <a:spcPct val="90000"/>
              </a:lnSpc>
            </a:pPr>
            <a:r>
              <a:rPr lang="en-US" sz="2133" dirty="0">
                <a:solidFill>
                  <a:srgbClr val="5A278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We provide moms and babies with a smoother feeding experience.</a:t>
            </a:r>
          </a:p>
          <a:p>
            <a:pPr defTabSz="914377">
              <a:lnSpc>
                <a:spcPct val="90000"/>
              </a:lnSpc>
            </a:pPr>
            <a:endParaRPr lang="en-US" sz="1867" dirty="0">
              <a:solidFill>
                <a:schemeClr val="tx1">
                  <a:lumMod val="85000"/>
                  <a:lumOff val="15000"/>
                </a:schemeClr>
              </a:solidFill>
              <a:latin typeface="Neue Frutiger World Light" panose="020B0403040304020203" pitchFamily="34" charset="0"/>
              <a:cs typeface="Neue Frutiger World Light" panose="020B0403040304020203" pitchFamily="34" charset="0"/>
            </a:endParaRPr>
          </a:p>
          <a:p>
            <a:pPr defTabSz="914377">
              <a:lnSpc>
                <a:spcPct val="90000"/>
              </a:lnSpc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Neue Frutiger World Light" panose="020B0403040304020203" pitchFamily="34" charset="0"/>
                <a:cs typeface="Neue Frutiger World Light" panose="020B0403040304020203" pitchFamily="34" charset="0"/>
              </a:rPr>
              <a:t>Clinically proven to reduce colic and discomfort that are linked to feeding issues, so babies get the nutrients needed for healthy development.</a:t>
            </a:r>
            <a:endParaRPr lang="en-US" sz="4800" dirty="0">
              <a:solidFill>
                <a:schemeClr val="tx1">
                  <a:lumMod val="85000"/>
                  <a:lumOff val="15000"/>
                </a:schemeClr>
              </a:solidFill>
              <a:latin typeface="Neue Frutiger World Light" panose="020B0403040304020203" pitchFamily="34" charset="0"/>
              <a:cs typeface="Neue Frutiger World Light" panose="020B0403040304020203" pitchFamily="34" charset="0"/>
            </a:endParaRPr>
          </a:p>
        </p:txBody>
      </p:sp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69D087E1-D1C7-F8AC-DE1B-F1986A23567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23" t="11141" r="60040"/>
          <a:stretch/>
        </p:blipFill>
        <p:spPr>
          <a:xfrm>
            <a:off x="7379344" y="-26061"/>
            <a:ext cx="4812656" cy="68840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34BC75C-7E72-CB7A-12BE-D7B500E79AAF}"/>
              </a:ext>
            </a:extLst>
          </p:cNvPr>
          <p:cNvSpPr/>
          <p:nvPr/>
        </p:nvSpPr>
        <p:spPr>
          <a:xfrm>
            <a:off x="4632876" y="5757048"/>
            <a:ext cx="2529457" cy="5438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67" dirty="0">
                <a:solidFill>
                  <a:schemeClr val="tx1">
                    <a:lumMod val="85000"/>
                    <a:lumOff val="15000"/>
                  </a:schemeClr>
                </a:solidFill>
                <a:latin typeface="Neue Frutiger World Light" panose="020B0403040304020203" pitchFamily="34" charset="0"/>
                <a:cs typeface="Neue Frutiger World Light" panose="020B0403040304020203" pitchFamily="34" charset="0"/>
              </a:rPr>
              <a:t>Wide bottle neck makes filling and cleaning easy.</a:t>
            </a:r>
            <a:endParaRPr lang="en-US" sz="1467" dirty="0"/>
          </a:p>
        </p:txBody>
      </p:sp>
      <p:pic>
        <p:nvPicPr>
          <p:cNvPr id="13" name="Picture 12" descr="Graphical user interface&#10;&#10;Description automatically generated">
            <a:extLst>
              <a:ext uri="{FF2B5EF4-FFF2-40B4-BE49-F238E27FC236}">
                <a16:creationId xmlns:a16="http://schemas.microsoft.com/office/drawing/2014/main" id="{E3100B50-C840-8DBB-7B28-892011F141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329" t="69645" r="31794" b="9780"/>
          <a:stretch/>
        </p:blipFill>
        <p:spPr>
          <a:xfrm>
            <a:off x="3503712" y="3921723"/>
            <a:ext cx="1230939" cy="1106091"/>
          </a:xfrm>
          <a:prstGeom prst="rect">
            <a:avLst/>
          </a:prstGeom>
        </p:spPr>
      </p:pic>
      <p:pic>
        <p:nvPicPr>
          <p:cNvPr id="15" name="Picture 14" descr="Graphical user interface&#10;&#10;Description automatically generated">
            <a:extLst>
              <a:ext uri="{FF2B5EF4-FFF2-40B4-BE49-F238E27FC236}">
                <a16:creationId xmlns:a16="http://schemas.microsoft.com/office/drawing/2014/main" id="{90404DC6-3111-CE22-37E1-1AF54D16F4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329" t="34793" r="31794" b="44632"/>
          <a:stretch/>
        </p:blipFill>
        <p:spPr>
          <a:xfrm>
            <a:off x="187561" y="3157045"/>
            <a:ext cx="1230939" cy="1106091"/>
          </a:xfrm>
          <a:prstGeom prst="rect">
            <a:avLst/>
          </a:prstGeom>
        </p:spPr>
      </p:pic>
      <p:pic>
        <p:nvPicPr>
          <p:cNvPr id="16" name="Picture 15" descr="Graphical user interface&#10;&#10;Description automatically generated">
            <a:extLst>
              <a:ext uri="{FF2B5EF4-FFF2-40B4-BE49-F238E27FC236}">
                <a16:creationId xmlns:a16="http://schemas.microsoft.com/office/drawing/2014/main" id="{C5551B7B-1898-1AFF-095A-52F49E979A1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117" t="69645" r="11006" b="9780"/>
          <a:stretch/>
        </p:blipFill>
        <p:spPr>
          <a:xfrm>
            <a:off x="3503712" y="5491261"/>
            <a:ext cx="1230939" cy="1106091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">
            <a:extLst>
              <a:ext uri="{FF2B5EF4-FFF2-40B4-BE49-F238E27FC236}">
                <a16:creationId xmlns:a16="http://schemas.microsoft.com/office/drawing/2014/main" id="{CE315BF2-C951-30E8-02E6-8ABBE48DC9D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117" t="34910" r="11006" b="44515"/>
          <a:stretch/>
        </p:blipFill>
        <p:spPr>
          <a:xfrm>
            <a:off x="187561" y="4794140"/>
            <a:ext cx="1230939" cy="110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67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25065" y="6496846"/>
            <a:ext cx="1230207" cy="15981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933" dirty="0">
                <a:solidFill>
                  <a:srgbClr val="A6A6A6"/>
                </a:solidFill>
                <a:latin typeface="Carlito"/>
                <a:cs typeface="Carlito"/>
              </a:rPr>
              <a:t>©</a:t>
            </a:r>
            <a:r>
              <a:rPr sz="933" spc="-7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13" dirty="0">
                <a:solidFill>
                  <a:srgbClr val="A6A6A6"/>
                </a:solidFill>
                <a:latin typeface="Carlito"/>
                <a:cs typeface="Carlito"/>
              </a:rPr>
              <a:t>Koninklijke</a:t>
            </a:r>
            <a:r>
              <a:rPr sz="933" spc="13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13" dirty="0">
                <a:solidFill>
                  <a:srgbClr val="A6A6A6"/>
                </a:solidFill>
                <a:latin typeface="Carlito"/>
                <a:cs typeface="Carlito"/>
              </a:rPr>
              <a:t>Philips</a:t>
            </a:r>
            <a:r>
              <a:rPr sz="933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27" dirty="0">
                <a:solidFill>
                  <a:srgbClr val="A6A6A6"/>
                </a:solidFill>
                <a:latin typeface="Carlito"/>
                <a:cs typeface="Carlito"/>
              </a:rPr>
              <a:t>N.V.</a:t>
            </a:r>
            <a:endParaRPr sz="933">
              <a:latin typeface="Carlito"/>
              <a:cs typeface="Carli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7600" y="577781"/>
            <a:ext cx="14020800" cy="1585523"/>
          </a:xfrm>
          <a:prstGeom prst="rect">
            <a:avLst/>
          </a:prstGeom>
        </p:spPr>
        <p:txBody>
          <a:bodyPr vert="horz" wrap="square" lIns="0" tIns="521232" rIns="0" bIns="0" rtlCol="0" anchor="ctr">
            <a:spAutoFit/>
          </a:bodyPr>
          <a:lstStyle/>
          <a:p>
            <a:pPr marL="208275">
              <a:lnSpc>
                <a:spcPct val="100000"/>
              </a:lnSpc>
              <a:spcBef>
                <a:spcPts val="1500"/>
              </a:spcBef>
            </a:pPr>
            <a:r>
              <a:rPr sz="3733" b="1" dirty="0">
                <a:latin typeface="Carlito"/>
                <a:cs typeface="Carlito"/>
              </a:rPr>
              <a:t>Natural</a:t>
            </a:r>
            <a:r>
              <a:rPr sz="3733" b="1" spc="-140" dirty="0">
                <a:latin typeface="Carlito"/>
                <a:cs typeface="Carlito"/>
              </a:rPr>
              <a:t> </a:t>
            </a:r>
            <a:r>
              <a:rPr sz="3733" b="1" dirty="0">
                <a:latin typeface="Carlito"/>
                <a:cs typeface="Carlito"/>
              </a:rPr>
              <a:t>Glass</a:t>
            </a:r>
            <a:r>
              <a:rPr sz="3733" b="1" spc="-140" dirty="0">
                <a:latin typeface="Carlito"/>
                <a:cs typeface="Carlito"/>
              </a:rPr>
              <a:t> </a:t>
            </a:r>
            <a:r>
              <a:rPr sz="3733" b="1" spc="-13" dirty="0">
                <a:latin typeface="Carlito"/>
                <a:cs typeface="Carlito"/>
              </a:rPr>
              <a:t>Bottles</a:t>
            </a:r>
            <a:endParaRPr sz="3733">
              <a:latin typeface="Carlito"/>
              <a:cs typeface="Carlito"/>
            </a:endParaRPr>
          </a:p>
          <a:p>
            <a:pPr marL="530847">
              <a:lnSpc>
                <a:spcPct val="100000"/>
              </a:lnSpc>
              <a:spcBef>
                <a:spcPts val="887"/>
              </a:spcBef>
            </a:pPr>
            <a:r>
              <a:rPr sz="2400" dirty="0"/>
              <a:t>are</a:t>
            </a:r>
            <a:r>
              <a:rPr sz="2400" spc="-33" dirty="0"/>
              <a:t> </a:t>
            </a:r>
            <a:r>
              <a:rPr sz="2400" dirty="0"/>
              <a:t>made</a:t>
            </a:r>
            <a:r>
              <a:rPr sz="2400" spc="-47" dirty="0"/>
              <a:t> </a:t>
            </a:r>
            <a:r>
              <a:rPr sz="2400" dirty="0"/>
              <a:t>of</a:t>
            </a:r>
            <a:r>
              <a:rPr sz="2400" spc="-53" dirty="0"/>
              <a:t> </a:t>
            </a:r>
            <a:r>
              <a:rPr sz="2400" spc="-13" dirty="0"/>
              <a:t>pharmaceutical</a:t>
            </a:r>
            <a:r>
              <a:rPr sz="2400" spc="-27" dirty="0"/>
              <a:t> </a:t>
            </a:r>
            <a:r>
              <a:rPr sz="2400" dirty="0"/>
              <a:t>grade</a:t>
            </a:r>
            <a:r>
              <a:rPr sz="2400" spc="-27" dirty="0"/>
              <a:t> </a:t>
            </a:r>
            <a:r>
              <a:rPr sz="2400" spc="-13" dirty="0"/>
              <a:t>glass.</a:t>
            </a:r>
            <a:endParaRPr sz="24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552701"/>
            <a:ext cx="5730240" cy="62321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34501" y="2801112"/>
            <a:ext cx="4833620" cy="26075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400" dirty="0">
                <a:latin typeface="Carlito"/>
                <a:cs typeface="Carlito"/>
              </a:rPr>
              <a:t>Premium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quality</a:t>
            </a:r>
            <a:r>
              <a:rPr sz="2400" spc="-6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borosilicate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3" dirty="0">
                <a:latin typeface="Carlito"/>
                <a:cs typeface="Carlito"/>
              </a:rPr>
              <a:t>glass.</a:t>
            </a:r>
            <a:endParaRPr sz="2400">
              <a:latin typeface="Carlito"/>
              <a:cs typeface="Carlito"/>
            </a:endParaRPr>
          </a:p>
          <a:p>
            <a:pPr marL="16933">
              <a:spcBef>
                <a:spcPts val="2880"/>
              </a:spcBef>
            </a:pPr>
            <a:r>
              <a:rPr sz="2400" dirty="0">
                <a:latin typeface="Carlito"/>
                <a:cs typeface="Carlito"/>
              </a:rPr>
              <a:t>Heat</a:t>
            </a:r>
            <a:r>
              <a:rPr sz="2400" spc="-13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3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thermal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shock</a:t>
            </a:r>
            <a:r>
              <a:rPr sz="2400" spc="-13" dirty="0">
                <a:latin typeface="Carlito"/>
                <a:cs typeface="Carlito"/>
              </a:rPr>
              <a:t> resistant.</a:t>
            </a:r>
            <a:endParaRPr sz="2400">
              <a:latin typeface="Carlito"/>
              <a:cs typeface="Carlito"/>
            </a:endParaRPr>
          </a:p>
          <a:p>
            <a:pPr marL="16933" marR="6773">
              <a:spcBef>
                <a:spcPts val="2880"/>
              </a:spcBef>
            </a:pPr>
            <a:r>
              <a:rPr sz="2400" dirty="0">
                <a:latin typeface="Carlito"/>
                <a:cs typeface="Carlito"/>
              </a:rPr>
              <a:t>They</a:t>
            </a:r>
            <a:r>
              <a:rPr sz="2400" spc="-33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can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be</a:t>
            </a:r>
            <a:r>
              <a:rPr sz="2400" spc="-13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safely</a:t>
            </a:r>
            <a:r>
              <a:rPr sz="2400" spc="-47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stored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in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the</a:t>
            </a:r>
            <a:r>
              <a:rPr sz="2400" spc="-7" dirty="0">
                <a:latin typeface="Carlito"/>
                <a:cs typeface="Carlito"/>
              </a:rPr>
              <a:t> </a:t>
            </a:r>
            <a:r>
              <a:rPr sz="2400" spc="-13" dirty="0">
                <a:latin typeface="Carlito"/>
                <a:cs typeface="Carlito"/>
              </a:rPr>
              <a:t>fridge, </a:t>
            </a:r>
            <a:r>
              <a:rPr sz="2400" dirty="0">
                <a:latin typeface="Carlito"/>
                <a:cs typeface="Carlito"/>
              </a:rPr>
              <a:t>warmed,</a:t>
            </a:r>
            <a:r>
              <a:rPr sz="2400" spc="-53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3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are</a:t>
            </a:r>
            <a:r>
              <a:rPr sz="2400" spc="-53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suitable</a:t>
            </a:r>
            <a:r>
              <a:rPr sz="2400" spc="-33" dirty="0">
                <a:latin typeface="Carlito"/>
                <a:cs typeface="Carlito"/>
              </a:rPr>
              <a:t> for </a:t>
            </a:r>
            <a:r>
              <a:rPr sz="2400" spc="-13" dirty="0">
                <a:latin typeface="Carlito"/>
                <a:cs typeface="Carlito"/>
              </a:rPr>
              <a:t>sterilisation.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85968" y="3988800"/>
            <a:ext cx="1755987" cy="1741593"/>
            <a:chOff x="4189476" y="2991599"/>
            <a:chExt cx="1316990" cy="130619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9476" y="2991599"/>
              <a:ext cx="1316736" cy="13060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67200" y="3069362"/>
              <a:ext cx="1165857" cy="11551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32" y="1094232"/>
              <a:ext cx="9049512" cy="31379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204" y="1132332"/>
              <a:ext cx="8947404" cy="30236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24850" y="113309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59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20" y="251459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8324850" y="113309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0" y="251459"/>
                  </a:moveTo>
                  <a:lnTo>
                    <a:pt x="4049" y="206243"/>
                  </a:lnTo>
                  <a:lnTo>
                    <a:pt x="15725" y="163693"/>
                  </a:lnTo>
                  <a:lnTo>
                    <a:pt x="34318" y="124516"/>
                  </a:lnTo>
                  <a:lnTo>
                    <a:pt x="59120" y="89422"/>
                  </a:lnTo>
                  <a:lnTo>
                    <a:pt x="89422" y="59120"/>
                  </a:lnTo>
                  <a:lnTo>
                    <a:pt x="124516" y="34318"/>
                  </a:lnTo>
                  <a:lnTo>
                    <a:pt x="163693" y="15725"/>
                  </a:lnTo>
                  <a:lnTo>
                    <a:pt x="206243" y="4049"/>
                  </a:lnTo>
                  <a:lnTo>
                    <a:pt x="251459" y="0"/>
                  </a:lnTo>
                  <a:lnTo>
                    <a:pt x="296676" y="4049"/>
                  </a:lnTo>
                  <a:lnTo>
                    <a:pt x="339226" y="15725"/>
                  </a:lnTo>
                  <a:lnTo>
                    <a:pt x="378403" y="34318"/>
                  </a:lnTo>
                  <a:lnTo>
                    <a:pt x="413497" y="59120"/>
                  </a:lnTo>
                  <a:lnTo>
                    <a:pt x="443799" y="89422"/>
                  </a:lnTo>
                  <a:lnTo>
                    <a:pt x="468601" y="124516"/>
                  </a:lnTo>
                  <a:lnTo>
                    <a:pt x="487194" y="163693"/>
                  </a:lnTo>
                  <a:lnTo>
                    <a:pt x="498870" y="206243"/>
                  </a:lnTo>
                  <a:lnTo>
                    <a:pt x="502920" y="251459"/>
                  </a:lnTo>
                  <a:lnTo>
                    <a:pt x="498870" y="296676"/>
                  </a:lnTo>
                  <a:lnTo>
                    <a:pt x="487194" y="339226"/>
                  </a:lnTo>
                  <a:lnTo>
                    <a:pt x="468601" y="378403"/>
                  </a:lnTo>
                  <a:lnTo>
                    <a:pt x="443799" y="413497"/>
                  </a:lnTo>
                  <a:lnTo>
                    <a:pt x="413497" y="443799"/>
                  </a:lnTo>
                  <a:lnTo>
                    <a:pt x="378403" y="468601"/>
                  </a:lnTo>
                  <a:lnTo>
                    <a:pt x="339226" y="487194"/>
                  </a:lnTo>
                  <a:lnTo>
                    <a:pt x="296676" y="498870"/>
                  </a:lnTo>
                  <a:lnTo>
                    <a:pt x="251459" y="502919"/>
                  </a:lnTo>
                  <a:lnTo>
                    <a:pt x="206243" y="498870"/>
                  </a:lnTo>
                  <a:lnTo>
                    <a:pt x="163693" y="487194"/>
                  </a:lnTo>
                  <a:lnTo>
                    <a:pt x="124516" y="468601"/>
                  </a:lnTo>
                  <a:lnTo>
                    <a:pt x="89422" y="443799"/>
                  </a:lnTo>
                  <a:lnTo>
                    <a:pt x="59120" y="413497"/>
                  </a:lnTo>
                  <a:lnTo>
                    <a:pt x="34318" y="378403"/>
                  </a:lnTo>
                  <a:lnTo>
                    <a:pt x="15725" y="339226"/>
                  </a:lnTo>
                  <a:lnTo>
                    <a:pt x="4049" y="296676"/>
                  </a:lnTo>
                  <a:lnTo>
                    <a:pt x="0" y="25145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25065" y="6496846"/>
            <a:ext cx="1230207" cy="15981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933" dirty="0">
                <a:solidFill>
                  <a:srgbClr val="A6A6A6"/>
                </a:solidFill>
                <a:latin typeface="Carlito"/>
                <a:cs typeface="Carlito"/>
              </a:rPr>
              <a:t>©</a:t>
            </a:r>
            <a:r>
              <a:rPr sz="933" spc="-7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13" dirty="0">
                <a:solidFill>
                  <a:srgbClr val="A6A6A6"/>
                </a:solidFill>
                <a:latin typeface="Carlito"/>
                <a:cs typeface="Carlito"/>
              </a:rPr>
              <a:t>Koninklijke</a:t>
            </a:r>
            <a:r>
              <a:rPr sz="933" spc="13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13" dirty="0">
                <a:solidFill>
                  <a:srgbClr val="A6A6A6"/>
                </a:solidFill>
                <a:latin typeface="Carlito"/>
                <a:cs typeface="Carlito"/>
              </a:rPr>
              <a:t>Philips</a:t>
            </a:r>
            <a:r>
              <a:rPr sz="933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27" dirty="0">
                <a:solidFill>
                  <a:srgbClr val="A6A6A6"/>
                </a:solidFill>
                <a:latin typeface="Carlito"/>
                <a:cs typeface="Carlito"/>
              </a:rPr>
              <a:t>N.V.</a:t>
            </a:r>
            <a:endParaRPr sz="933">
              <a:latin typeface="Carlito"/>
              <a:cs typeface="Carli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17600" y="561962"/>
            <a:ext cx="14020800" cy="1617160"/>
          </a:xfrm>
          <a:prstGeom prst="rect">
            <a:avLst/>
          </a:prstGeom>
        </p:spPr>
        <p:txBody>
          <a:bodyPr vert="horz" wrap="square" lIns="0" tIns="260400" rIns="0" bIns="0" rtlCol="0" anchor="ctr">
            <a:spAutoFit/>
          </a:bodyPr>
          <a:lstStyle/>
          <a:p>
            <a:pPr marL="457189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Steam</a:t>
            </a:r>
          </a:p>
          <a:p>
            <a:pPr marL="820399">
              <a:lnSpc>
                <a:spcPct val="100000"/>
              </a:lnSpc>
            </a:pPr>
            <a:r>
              <a:rPr b="1" spc="-13" dirty="0">
                <a:latin typeface="Carlito"/>
                <a:cs typeface="Carlito"/>
              </a:rPr>
              <a:t>Sterilisers.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46099" y="2748449"/>
          <a:ext cx="10283613" cy="32613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7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71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E51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Microwave</a:t>
                      </a:r>
                      <a:r>
                        <a:rPr sz="1500" b="1" spc="-5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Steam</a:t>
                      </a:r>
                      <a:r>
                        <a:rPr sz="1500" b="1" spc="-1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Steriliser</a:t>
                      </a:r>
                      <a:r>
                        <a:rPr sz="1500" b="1" spc="-3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(SCF281/03)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6171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E51D4"/>
                    </a:solidFill>
                  </a:tcPr>
                </a:tc>
                <a:tc>
                  <a:txBody>
                    <a:bodyPr/>
                    <a:lstStyle/>
                    <a:p>
                      <a:pPr marL="1154430" marR="1075055" indent="-717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5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Advanced</a:t>
                      </a:r>
                      <a:r>
                        <a:rPr sz="1500" b="1" spc="-4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Bottle</a:t>
                      </a:r>
                      <a:r>
                        <a:rPr sz="1500" b="1" spc="-25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Steriliser 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(SCF291/00</a:t>
                      </a:r>
                      <a:r>
                        <a:rPr sz="1500" b="1" spc="-6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 </a:t>
                      </a:r>
                      <a:r>
                        <a:rPr sz="1500" b="1" spc="-10" dirty="0">
                          <a:solidFill>
                            <a:srgbClr val="FFFFFF"/>
                          </a:solidFill>
                          <a:latin typeface="Carlito"/>
                          <a:cs typeface="Carlito"/>
                        </a:rPr>
                        <a:t>SCF291/01)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49953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8E51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112">
                <a:tc>
                  <a:txBody>
                    <a:bodyPr/>
                    <a:lstStyle/>
                    <a:p>
                      <a:pPr marL="376555" marR="175895" indent="-1924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10" dirty="0">
                          <a:latin typeface="Carlito"/>
                          <a:cs typeface="Carlito"/>
                        </a:rPr>
                        <a:t>Adjustable </a:t>
                      </a:r>
                      <a:r>
                        <a:rPr sz="1500" spc="-20" dirty="0">
                          <a:latin typeface="Carlito"/>
                          <a:cs typeface="Carlito"/>
                        </a:rPr>
                        <a:t>Size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500" spc="-50" dirty="0">
                          <a:latin typeface="Carlito"/>
                          <a:cs typeface="Carlito"/>
                        </a:rPr>
                        <a:t>-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62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D9F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✔️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425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D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500" spc="-10" dirty="0">
                          <a:latin typeface="Carlito"/>
                          <a:cs typeface="Carlito"/>
                        </a:rPr>
                        <a:t>Compact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D9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✔️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D9F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✔️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D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112">
                <a:tc>
                  <a:txBody>
                    <a:bodyPr/>
                    <a:lstStyle/>
                    <a:p>
                      <a:pPr marL="222250" marR="85725" indent="-1282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10" dirty="0">
                          <a:latin typeface="Carlito"/>
                          <a:cs typeface="Carlito"/>
                        </a:rPr>
                        <a:t>Automatically </a:t>
                      </a:r>
                      <a:r>
                        <a:rPr sz="1500" dirty="0">
                          <a:latin typeface="Carlito"/>
                          <a:cs typeface="Carlito"/>
                        </a:rPr>
                        <a:t>Turns</a:t>
                      </a:r>
                      <a:r>
                        <a:rPr sz="1500" spc="-3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spc="-25" dirty="0">
                          <a:latin typeface="Carlito"/>
                          <a:cs typeface="Carlito"/>
                        </a:rPr>
                        <a:t>Off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500" spc="-50" dirty="0">
                          <a:latin typeface="Carlito"/>
                          <a:cs typeface="Carlito"/>
                        </a:rPr>
                        <a:t>-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62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r>
                        <a:rPr sz="1500" spc="-25" dirty="0">
                          <a:latin typeface="Arial"/>
                          <a:cs typeface="Arial"/>
                        </a:rPr>
                        <a:t>✔️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4252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500" spc="-10" dirty="0">
                          <a:latin typeface="Carlito"/>
                          <a:cs typeface="Carlito"/>
                        </a:rPr>
                        <a:t>Sterilising</a:t>
                      </a:r>
                      <a:endParaRPr sz="1500">
                        <a:latin typeface="Carlito"/>
                        <a:cs typeface="Carlito"/>
                      </a:endParaRPr>
                    </a:p>
                    <a:p>
                      <a:pPr marL="179705">
                        <a:lnSpc>
                          <a:spcPct val="100000"/>
                        </a:lnSpc>
                      </a:pPr>
                      <a:r>
                        <a:rPr sz="1500" dirty="0">
                          <a:latin typeface="Carlito"/>
                          <a:cs typeface="Carlito"/>
                        </a:rPr>
                        <a:t>Cycle</a:t>
                      </a:r>
                      <a:r>
                        <a:rPr sz="15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spc="-20" dirty="0">
                          <a:latin typeface="Carlito"/>
                          <a:cs typeface="Carlito"/>
                        </a:rPr>
                        <a:t>Time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D9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500" dirty="0">
                          <a:latin typeface="Carlito"/>
                          <a:cs typeface="Carlito"/>
                        </a:rPr>
                        <a:t>Sterilises</a:t>
                      </a:r>
                      <a:r>
                        <a:rPr sz="15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dirty="0">
                          <a:latin typeface="Carlito"/>
                          <a:cs typeface="Carlito"/>
                        </a:rPr>
                        <a:t>in</a:t>
                      </a:r>
                      <a:r>
                        <a:rPr sz="15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dirty="0">
                          <a:latin typeface="Carlito"/>
                          <a:cs typeface="Carlito"/>
                        </a:rPr>
                        <a:t>2</a:t>
                      </a:r>
                      <a:r>
                        <a:rPr sz="1500" spc="-10" dirty="0">
                          <a:latin typeface="Carlito"/>
                          <a:cs typeface="Carlito"/>
                        </a:rPr>
                        <a:t> minutes.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62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D9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sz="1500" dirty="0">
                          <a:latin typeface="Carlito"/>
                          <a:cs typeface="Carlito"/>
                        </a:rPr>
                        <a:t>Sterilises</a:t>
                      </a:r>
                      <a:r>
                        <a:rPr sz="1500" spc="-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dirty="0">
                          <a:latin typeface="Carlito"/>
                          <a:cs typeface="Carlito"/>
                        </a:rPr>
                        <a:t>in</a:t>
                      </a:r>
                      <a:r>
                        <a:rPr sz="15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dirty="0">
                          <a:latin typeface="Carlito"/>
                          <a:cs typeface="Carlito"/>
                        </a:rPr>
                        <a:t>10</a:t>
                      </a:r>
                      <a:r>
                        <a:rPr sz="15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spc="-10" dirty="0">
                          <a:latin typeface="Carlito"/>
                          <a:cs typeface="Carlito"/>
                        </a:rPr>
                        <a:t>minutes.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62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6D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500" spc="-10" dirty="0">
                          <a:latin typeface="Carlito"/>
                          <a:cs typeface="Carlito"/>
                        </a:rPr>
                        <a:t>Capacity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253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500" dirty="0">
                          <a:latin typeface="Carlito"/>
                          <a:cs typeface="Carlito"/>
                        </a:rPr>
                        <a:t>4</a:t>
                      </a:r>
                      <a:r>
                        <a:rPr sz="15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dirty="0">
                          <a:latin typeface="Carlito"/>
                          <a:cs typeface="Carlito"/>
                        </a:rPr>
                        <a:t>Philips</a:t>
                      </a:r>
                      <a:r>
                        <a:rPr sz="1500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dirty="0">
                          <a:latin typeface="Carlito"/>
                          <a:cs typeface="Carlito"/>
                        </a:rPr>
                        <a:t>Avent</a:t>
                      </a:r>
                      <a:r>
                        <a:rPr sz="15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spc="-10" dirty="0">
                          <a:latin typeface="Carlito"/>
                          <a:cs typeface="Carlito"/>
                        </a:rPr>
                        <a:t>Bottles.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253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EBF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1500" dirty="0">
                          <a:latin typeface="Carlito"/>
                          <a:cs typeface="Carlito"/>
                        </a:rPr>
                        <a:t>6</a:t>
                      </a:r>
                      <a:r>
                        <a:rPr sz="1500" spc="-1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dirty="0">
                          <a:latin typeface="Carlito"/>
                          <a:cs typeface="Carlito"/>
                        </a:rPr>
                        <a:t>Philips</a:t>
                      </a:r>
                      <a:r>
                        <a:rPr sz="1500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dirty="0">
                          <a:latin typeface="Carlito"/>
                          <a:cs typeface="Carlito"/>
                        </a:rPr>
                        <a:t>Avent</a:t>
                      </a:r>
                      <a:r>
                        <a:rPr sz="1500" spc="-1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1500" spc="-10" dirty="0">
                          <a:latin typeface="Carlito"/>
                          <a:cs typeface="Carlito"/>
                        </a:rPr>
                        <a:t>Bottles.</a:t>
                      </a:r>
                      <a:endParaRPr sz="1500">
                        <a:latin typeface="Carlito"/>
                        <a:cs typeface="Carlito"/>
                      </a:endParaRPr>
                    </a:p>
                  </a:txBody>
                  <a:tcPr marL="0" marR="0" marT="12530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E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2847" y="1458976"/>
            <a:ext cx="1887728" cy="16642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39072" y="940816"/>
            <a:ext cx="2198624" cy="21986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25065" y="6496846"/>
            <a:ext cx="1230207" cy="15981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933" dirty="0">
                <a:solidFill>
                  <a:srgbClr val="A6A6A6"/>
                </a:solidFill>
                <a:latin typeface="Carlito"/>
                <a:cs typeface="Carlito"/>
              </a:rPr>
              <a:t>©</a:t>
            </a:r>
            <a:r>
              <a:rPr sz="933" spc="-7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13" dirty="0">
                <a:solidFill>
                  <a:srgbClr val="A6A6A6"/>
                </a:solidFill>
                <a:latin typeface="Carlito"/>
                <a:cs typeface="Carlito"/>
              </a:rPr>
              <a:t>Koninklijke</a:t>
            </a:r>
            <a:r>
              <a:rPr sz="933" spc="13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13" dirty="0">
                <a:solidFill>
                  <a:srgbClr val="A6A6A6"/>
                </a:solidFill>
                <a:latin typeface="Carlito"/>
                <a:cs typeface="Carlito"/>
              </a:rPr>
              <a:t>Philips</a:t>
            </a:r>
            <a:r>
              <a:rPr sz="933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27" dirty="0">
                <a:solidFill>
                  <a:srgbClr val="A6A6A6"/>
                </a:solidFill>
                <a:latin typeface="Carlito"/>
                <a:cs typeface="Carlito"/>
              </a:rPr>
              <a:t>N.V.</a:t>
            </a:r>
            <a:endParaRPr sz="933">
              <a:latin typeface="Carlito"/>
              <a:cs typeface="Carli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4711" y="5053312"/>
            <a:ext cx="2596727" cy="10019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3200" b="1" spc="-13" dirty="0">
                <a:solidFill>
                  <a:srgbClr val="8345B9"/>
                </a:solidFill>
                <a:latin typeface="Carlito"/>
                <a:cs typeface="Carlito"/>
              </a:rPr>
              <a:t>Manual</a:t>
            </a:r>
            <a:endParaRPr sz="3200">
              <a:latin typeface="Carlito"/>
              <a:cs typeface="Carlito"/>
            </a:endParaRPr>
          </a:p>
          <a:p>
            <a:pPr marL="380144">
              <a:spcBef>
                <a:spcPts val="7"/>
              </a:spcBef>
            </a:pPr>
            <a:r>
              <a:rPr sz="3200" dirty="0">
                <a:solidFill>
                  <a:srgbClr val="8345B9"/>
                </a:solidFill>
                <a:latin typeface="Carlito"/>
                <a:cs typeface="Carlito"/>
              </a:rPr>
              <a:t>Breast</a:t>
            </a:r>
            <a:r>
              <a:rPr sz="3200" spc="-140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3200" spc="-13" dirty="0">
                <a:solidFill>
                  <a:srgbClr val="8345B9"/>
                </a:solidFill>
                <a:latin typeface="Carlito"/>
                <a:cs typeface="Carlito"/>
              </a:rPr>
              <a:t>Pump.</a:t>
            </a:r>
            <a:endParaRPr sz="320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6735" y="424687"/>
            <a:ext cx="9001760" cy="5850467"/>
            <a:chOff x="35051" y="318515"/>
            <a:chExt cx="6751320" cy="43878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9128" y="1586483"/>
              <a:ext cx="803148" cy="81076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51" y="742188"/>
              <a:ext cx="3186684" cy="29047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6747" y="339851"/>
              <a:ext cx="781812" cy="79705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31413" y="337565"/>
              <a:ext cx="798830" cy="2030095"/>
            </a:xfrm>
            <a:custGeom>
              <a:avLst/>
              <a:gdLst/>
              <a:ahLst/>
              <a:cxnLst/>
              <a:rect l="l" t="t" r="r" b="b"/>
              <a:pathLst>
                <a:path w="798829" h="2030095">
                  <a:moveTo>
                    <a:pt x="1524" y="397763"/>
                  </a:moveTo>
                  <a:lnTo>
                    <a:pt x="4205" y="351370"/>
                  </a:lnTo>
                  <a:lnTo>
                    <a:pt x="12049" y="306550"/>
                  </a:lnTo>
                  <a:lnTo>
                    <a:pt x="24758" y="263602"/>
                  </a:lnTo>
                  <a:lnTo>
                    <a:pt x="42032" y="222823"/>
                  </a:lnTo>
                  <a:lnTo>
                    <a:pt x="63571" y="184513"/>
                  </a:lnTo>
                  <a:lnTo>
                    <a:pt x="89078" y="148969"/>
                  </a:lnTo>
                  <a:lnTo>
                    <a:pt x="118252" y="116490"/>
                  </a:lnTo>
                  <a:lnTo>
                    <a:pt x="150796" y="87374"/>
                  </a:lnTo>
                  <a:lnTo>
                    <a:pt x="186408" y="61919"/>
                  </a:lnTo>
                  <a:lnTo>
                    <a:pt x="224792" y="40423"/>
                  </a:lnTo>
                  <a:lnTo>
                    <a:pt x="265647" y="23185"/>
                  </a:lnTo>
                  <a:lnTo>
                    <a:pt x="308674" y="10503"/>
                  </a:lnTo>
                  <a:lnTo>
                    <a:pt x="353575" y="2675"/>
                  </a:lnTo>
                  <a:lnTo>
                    <a:pt x="400050" y="0"/>
                  </a:lnTo>
                  <a:lnTo>
                    <a:pt x="446524" y="2675"/>
                  </a:lnTo>
                  <a:lnTo>
                    <a:pt x="491425" y="10503"/>
                  </a:lnTo>
                  <a:lnTo>
                    <a:pt x="534452" y="23185"/>
                  </a:lnTo>
                  <a:lnTo>
                    <a:pt x="575307" y="40423"/>
                  </a:lnTo>
                  <a:lnTo>
                    <a:pt x="613691" y="61919"/>
                  </a:lnTo>
                  <a:lnTo>
                    <a:pt x="649303" y="87374"/>
                  </a:lnTo>
                  <a:lnTo>
                    <a:pt x="681847" y="116490"/>
                  </a:lnTo>
                  <a:lnTo>
                    <a:pt x="711021" y="148969"/>
                  </a:lnTo>
                  <a:lnTo>
                    <a:pt x="736528" y="184513"/>
                  </a:lnTo>
                  <a:lnTo>
                    <a:pt x="758067" y="222823"/>
                  </a:lnTo>
                  <a:lnTo>
                    <a:pt x="775341" y="263602"/>
                  </a:lnTo>
                  <a:lnTo>
                    <a:pt x="788050" y="306550"/>
                  </a:lnTo>
                  <a:lnTo>
                    <a:pt x="795894" y="351370"/>
                  </a:lnTo>
                  <a:lnTo>
                    <a:pt x="798576" y="397763"/>
                  </a:lnTo>
                  <a:lnTo>
                    <a:pt x="795894" y="444157"/>
                  </a:lnTo>
                  <a:lnTo>
                    <a:pt x="788050" y="488977"/>
                  </a:lnTo>
                  <a:lnTo>
                    <a:pt x="775341" y="531925"/>
                  </a:lnTo>
                  <a:lnTo>
                    <a:pt x="758067" y="572704"/>
                  </a:lnTo>
                  <a:lnTo>
                    <a:pt x="736528" y="611014"/>
                  </a:lnTo>
                  <a:lnTo>
                    <a:pt x="711021" y="646558"/>
                  </a:lnTo>
                  <a:lnTo>
                    <a:pt x="681847" y="679037"/>
                  </a:lnTo>
                  <a:lnTo>
                    <a:pt x="649303" y="708153"/>
                  </a:lnTo>
                  <a:lnTo>
                    <a:pt x="613691" y="733608"/>
                  </a:lnTo>
                  <a:lnTo>
                    <a:pt x="575307" y="755104"/>
                  </a:lnTo>
                  <a:lnTo>
                    <a:pt x="534452" y="772342"/>
                  </a:lnTo>
                  <a:lnTo>
                    <a:pt x="491425" y="785024"/>
                  </a:lnTo>
                  <a:lnTo>
                    <a:pt x="446524" y="792852"/>
                  </a:lnTo>
                  <a:lnTo>
                    <a:pt x="400050" y="795528"/>
                  </a:lnTo>
                  <a:lnTo>
                    <a:pt x="353575" y="792852"/>
                  </a:lnTo>
                  <a:lnTo>
                    <a:pt x="308674" y="785024"/>
                  </a:lnTo>
                  <a:lnTo>
                    <a:pt x="265647" y="772342"/>
                  </a:lnTo>
                  <a:lnTo>
                    <a:pt x="224792" y="755104"/>
                  </a:lnTo>
                  <a:lnTo>
                    <a:pt x="186408" y="733608"/>
                  </a:lnTo>
                  <a:lnTo>
                    <a:pt x="150796" y="708153"/>
                  </a:lnTo>
                  <a:lnTo>
                    <a:pt x="118252" y="679037"/>
                  </a:lnTo>
                  <a:lnTo>
                    <a:pt x="89078" y="646558"/>
                  </a:lnTo>
                  <a:lnTo>
                    <a:pt x="63571" y="611014"/>
                  </a:lnTo>
                  <a:lnTo>
                    <a:pt x="42032" y="572704"/>
                  </a:lnTo>
                  <a:lnTo>
                    <a:pt x="24758" y="531925"/>
                  </a:lnTo>
                  <a:lnTo>
                    <a:pt x="12049" y="488977"/>
                  </a:lnTo>
                  <a:lnTo>
                    <a:pt x="4205" y="444157"/>
                  </a:lnTo>
                  <a:lnTo>
                    <a:pt x="1524" y="397763"/>
                  </a:lnTo>
                  <a:close/>
                </a:path>
                <a:path w="798829" h="2030095">
                  <a:moveTo>
                    <a:pt x="0" y="1631442"/>
                  </a:moveTo>
                  <a:lnTo>
                    <a:pt x="2681" y="1584967"/>
                  </a:lnTo>
                  <a:lnTo>
                    <a:pt x="10525" y="1540066"/>
                  </a:lnTo>
                  <a:lnTo>
                    <a:pt x="23234" y="1497039"/>
                  </a:lnTo>
                  <a:lnTo>
                    <a:pt x="40508" y="1456184"/>
                  </a:lnTo>
                  <a:lnTo>
                    <a:pt x="62047" y="1417800"/>
                  </a:lnTo>
                  <a:lnTo>
                    <a:pt x="87554" y="1382188"/>
                  </a:lnTo>
                  <a:lnTo>
                    <a:pt x="116728" y="1349644"/>
                  </a:lnTo>
                  <a:lnTo>
                    <a:pt x="149272" y="1320470"/>
                  </a:lnTo>
                  <a:lnTo>
                    <a:pt x="184884" y="1294963"/>
                  </a:lnTo>
                  <a:lnTo>
                    <a:pt x="223268" y="1273424"/>
                  </a:lnTo>
                  <a:lnTo>
                    <a:pt x="264123" y="1256150"/>
                  </a:lnTo>
                  <a:lnTo>
                    <a:pt x="307150" y="1243441"/>
                  </a:lnTo>
                  <a:lnTo>
                    <a:pt x="352051" y="1235597"/>
                  </a:lnTo>
                  <a:lnTo>
                    <a:pt x="398525" y="1232916"/>
                  </a:lnTo>
                  <a:lnTo>
                    <a:pt x="445000" y="1235597"/>
                  </a:lnTo>
                  <a:lnTo>
                    <a:pt x="489901" y="1243441"/>
                  </a:lnTo>
                  <a:lnTo>
                    <a:pt x="532928" y="1256150"/>
                  </a:lnTo>
                  <a:lnTo>
                    <a:pt x="573783" y="1273424"/>
                  </a:lnTo>
                  <a:lnTo>
                    <a:pt x="612167" y="1294963"/>
                  </a:lnTo>
                  <a:lnTo>
                    <a:pt x="647779" y="1320470"/>
                  </a:lnTo>
                  <a:lnTo>
                    <a:pt x="680323" y="1349644"/>
                  </a:lnTo>
                  <a:lnTo>
                    <a:pt x="709497" y="1382188"/>
                  </a:lnTo>
                  <a:lnTo>
                    <a:pt x="735004" y="1417800"/>
                  </a:lnTo>
                  <a:lnTo>
                    <a:pt x="756543" y="1456184"/>
                  </a:lnTo>
                  <a:lnTo>
                    <a:pt x="773817" y="1497039"/>
                  </a:lnTo>
                  <a:lnTo>
                    <a:pt x="786526" y="1540066"/>
                  </a:lnTo>
                  <a:lnTo>
                    <a:pt x="794370" y="1584967"/>
                  </a:lnTo>
                  <a:lnTo>
                    <a:pt x="797051" y="1631442"/>
                  </a:lnTo>
                  <a:lnTo>
                    <a:pt x="794370" y="1677916"/>
                  </a:lnTo>
                  <a:lnTo>
                    <a:pt x="786526" y="1722817"/>
                  </a:lnTo>
                  <a:lnTo>
                    <a:pt x="773817" y="1765844"/>
                  </a:lnTo>
                  <a:lnTo>
                    <a:pt x="756543" y="1806699"/>
                  </a:lnTo>
                  <a:lnTo>
                    <a:pt x="735004" y="1845083"/>
                  </a:lnTo>
                  <a:lnTo>
                    <a:pt x="709497" y="1880695"/>
                  </a:lnTo>
                  <a:lnTo>
                    <a:pt x="680323" y="1913239"/>
                  </a:lnTo>
                  <a:lnTo>
                    <a:pt x="647779" y="1942413"/>
                  </a:lnTo>
                  <a:lnTo>
                    <a:pt x="612167" y="1967920"/>
                  </a:lnTo>
                  <a:lnTo>
                    <a:pt x="573783" y="1989459"/>
                  </a:lnTo>
                  <a:lnTo>
                    <a:pt x="532928" y="2006733"/>
                  </a:lnTo>
                  <a:lnTo>
                    <a:pt x="489901" y="2019442"/>
                  </a:lnTo>
                  <a:lnTo>
                    <a:pt x="445000" y="2027286"/>
                  </a:lnTo>
                  <a:lnTo>
                    <a:pt x="398525" y="2029968"/>
                  </a:lnTo>
                  <a:lnTo>
                    <a:pt x="352051" y="2027286"/>
                  </a:lnTo>
                  <a:lnTo>
                    <a:pt x="307150" y="2019442"/>
                  </a:lnTo>
                  <a:lnTo>
                    <a:pt x="264123" y="2006733"/>
                  </a:lnTo>
                  <a:lnTo>
                    <a:pt x="223268" y="1989459"/>
                  </a:lnTo>
                  <a:lnTo>
                    <a:pt x="184884" y="1967920"/>
                  </a:lnTo>
                  <a:lnTo>
                    <a:pt x="149272" y="1942413"/>
                  </a:lnTo>
                  <a:lnTo>
                    <a:pt x="116728" y="1913239"/>
                  </a:lnTo>
                  <a:lnTo>
                    <a:pt x="87554" y="1880695"/>
                  </a:lnTo>
                  <a:lnTo>
                    <a:pt x="62047" y="1845083"/>
                  </a:lnTo>
                  <a:lnTo>
                    <a:pt x="40508" y="1806699"/>
                  </a:lnTo>
                  <a:lnTo>
                    <a:pt x="23234" y="1765844"/>
                  </a:lnTo>
                  <a:lnTo>
                    <a:pt x="10525" y="1722817"/>
                  </a:lnTo>
                  <a:lnTo>
                    <a:pt x="2681" y="1677916"/>
                  </a:lnTo>
                  <a:lnTo>
                    <a:pt x="0" y="1631442"/>
                  </a:lnTo>
                  <a:close/>
                </a:path>
              </a:pathLst>
            </a:custGeom>
            <a:ln w="38100">
              <a:solidFill>
                <a:srgbClr val="8345B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29128" y="2706623"/>
              <a:ext cx="797051" cy="82905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935985" y="2724149"/>
              <a:ext cx="795655" cy="797560"/>
            </a:xfrm>
            <a:custGeom>
              <a:avLst/>
              <a:gdLst/>
              <a:ahLst/>
              <a:cxnLst/>
              <a:rect l="l" t="t" r="r" b="b"/>
              <a:pathLst>
                <a:path w="795654" h="797560">
                  <a:moveTo>
                    <a:pt x="0" y="398525"/>
                  </a:moveTo>
                  <a:lnTo>
                    <a:pt x="2675" y="352051"/>
                  </a:lnTo>
                  <a:lnTo>
                    <a:pt x="10503" y="307150"/>
                  </a:lnTo>
                  <a:lnTo>
                    <a:pt x="23185" y="264123"/>
                  </a:lnTo>
                  <a:lnTo>
                    <a:pt x="40423" y="223268"/>
                  </a:lnTo>
                  <a:lnTo>
                    <a:pt x="61919" y="184884"/>
                  </a:lnTo>
                  <a:lnTo>
                    <a:pt x="87374" y="149272"/>
                  </a:lnTo>
                  <a:lnTo>
                    <a:pt x="116490" y="116728"/>
                  </a:lnTo>
                  <a:lnTo>
                    <a:pt x="148969" y="87554"/>
                  </a:lnTo>
                  <a:lnTo>
                    <a:pt x="184513" y="62047"/>
                  </a:lnTo>
                  <a:lnTo>
                    <a:pt x="222823" y="40508"/>
                  </a:lnTo>
                  <a:lnTo>
                    <a:pt x="263602" y="23234"/>
                  </a:lnTo>
                  <a:lnTo>
                    <a:pt x="306550" y="10525"/>
                  </a:lnTo>
                  <a:lnTo>
                    <a:pt x="351370" y="2681"/>
                  </a:lnTo>
                  <a:lnTo>
                    <a:pt x="397763" y="0"/>
                  </a:lnTo>
                  <a:lnTo>
                    <a:pt x="444157" y="2681"/>
                  </a:lnTo>
                  <a:lnTo>
                    <a:pt x="488977" y="10525"/>
                  </a:lnTo>
                  <a:lnTo>
                    <a:pt x="531925" y="23234"/>
                  </a:lnTo>
                  <a:lnTo>
                    <a:pt x="572704" y="40508"/>
                  </a:lnTo>
                  <a:lnTo>
                    <a:pt x="611014" y="62047"/>
                  </a:lnTo>
                  <a:lnTo>
                    <a:pt x="646558" y="87554"/>
                  </a:lnTo>
                  <a:lnTo>
                    <a:pt x="679037" y="116728"/>
                  </a:lnTo>
                  <a:lnTo>
                    <a:pt x="708153" y="149272"/>
                  </a:lnTo>
                  <a:lnTo>
                    <a:pt x="733608" y="184884"/>
                  </a:lnTo>
                  <a:lnTo>
                    <a:pt x="755104" y="223268"/>
                  </a:lnTo>
                  <a:lnTo>
                    <a:pt x="772342" y="264123"/>
                  </a:lnTo>
                  <a:lnTo>
                    <a:pt x="785024" y="307150"/>
                  </a:lnTo>
                  <a:lnTo>
                    <a:pt x="792852" y="352051"/>
                  </a:lnTo>
                  <a:lnTo>
                    <a:pt x="795527" y="398525"/>
                  </a:lnTo>
                  <a:lnTo>
                    <a:pt x="792852" y="445000"/>
                  </a:lnTo>
                  <a:lnTo>
                    <a:pt x="785024" y="489901"/>
                  </a:lnTo>
                  <a:lnTo>
                    <a:pt x="772342" y="532928"/>
                  </a:lnTo>
                  <a:lnTo>
                    <a:pt x="755104" y="573783"/>
                  </a:lnTo>
                  <a:lnTo>
                    <a:pt x="733608" y="612167"/>
                  </a:lnTo>
                  <a:lnTo>
                    <a:pt x="708153" y="647779"/>
                  </a:lnTo>
                  <a:lnTo>
                    <a:pt x="679037" y="680323"/>
                  </a:lnTo>
                  <a:lnTo>
                    <a:pt x="646558" y="709497"/>
                  </a:lnTo>
                  <a:lnTo>
                    <a:pt x="611014" y="735004"/>
                  </a:lnTo>
                  <a:lnTo>
                    <a:pt x="572704" y="756543"/>
                  </a:lnTo>
                  <a:lnTo>
                    <a:pt x="531925" y="773817"/>
                  </a:lnTo>
                  <a:lnTo>
                    <a:pt x="488977" y="786526"/>
                  </a:lnTo>
                  <a:lnTo>
                    <a:pt x="444157" y="794370"/>
                  </a:lnTo>
                  <a:lnTo>
                    <a:pt x="397763" y="797052"/>
                  </a:lnTo>
                  <a:lnTo>
                    <a:pt x="351370" y="794370"/>
                  </a:lnTo>
                  <a:lnTo>
                    <a:pt x="306550" y="786526"/>
                  </a:lnTo>
                  <a:lnTo>
                    <a:pt x="263602" y="773817"/>
                  </a:lnTo>
                  <a:lnTo>
                    <a:pt x="222823" y="756543"/>
                  </a:lnTo>
                  <a:lnTo>
                    <a:pt x="184513" y="735004"/>
                  </a:lnTo>
                  <a:lnTo>
                    <a:pt x="148969" y="709497"/>
                  </a:lnTo>
                  <a:lnTo>
                    <a:pt x="116490" y="680323"/>
                  </a:lnTo>
                  <a:lnTo>
                    <a:pt x="87374" y="647779"/>
                  </a:lnTo>
                  <a:lnTo>
                    <a:pt x="61919" y="612167"/>
                  </a:lnTo>
                  <a:lnTo>
                    <a:pt x="40423" y="573783"/>
                  </a:lnTo>
                  <a:lnTo>
                    <a:pt x="23185" y="532928"/>
                  </a:lnTo>
                  <a:lnTo>
                    <a:pt x="10503" y="489901"/>
                  </a:lnTo>
                  <a:lnTo>
                    <a:pt x="2675" y="445000"/>
                  </a:lnTo>
                  <a:lnTo>
                    <a:pt x="0" y="398525"/>
                  </a:lnTo>
                  <a:close/>
                </a:path>
              </a:pathLst>
            </a:custGeom>
            <a:ln w="38100">
              <a:solidFill>
                <a:srgbClr val="8345B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26079" y="3907536"/>
              <a:ext cx="798575" cy="78943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26841" y="3890010"/>
              <a:ext cx="797560" cy="797560"/>
            </a:xfrm>
            <a:custGeom>
              <a:avLst/>
              <a:gdLst/>
              <a:ahLst/>
              <a:cxnLst/>
              <a:rect l="l" t="t" r="r" b="b"/>
              <a:pathLst>
                <a:path w="797560" h="797560">
                  <a:moveTo>
                    <a:pt x="0" y="398525"/>
                  </a:moveTo>
                  <a:lnTo>
                    <a:pt x="2681" y="352048"/>
                  </a:lnTo>
                  <a:lnTo>
                    <a:pt x="10525" y="307146"/>
                  </a:lnTo>
                  <a:lnTo>
                    <a:pt x="23234" y="264118"/>
                  </a:lnTo>
                  <a:lnTo>
                    <a:pt x="40508" y="223262"/>
                  </a:lnTo>
                  <a:lnTo>
                    <a:pt x="62047" y="184879"/>
                  </a:lnTo>
                  <a:lnTo>
                    <a:pt x="87554" y="149266"/>
                  </a:lnTo>
                  <a:lnTo>
                    <a:pt x="116728" y="116724"/>
                  </a:lnTo>
                  <a:lnTo>
                    <a:pt x="149272" y="87550"/>
                  </a:lnTo>
                  <a:lnTo>
                    <a:pt x="184884" y="62044"/>
                  </a:lnTo>
                  <a:lnTo>
                    <a:pt x="223268" y="40505"/>
                  </a:lnTo>
                  <a:lnTo>
                    <a:pt x="264123" y="23233"/>
                  </a:lnTo>
                  <a:lnTo>
                    <a:pt x="307150" y="10525"/>
                  </a:lnTo>
                  <a:lnTo>
                    <a:pt x="352051" y="2681"/>
                  </a:lnTo>
                  <a:lnTo>
                    <a:pt x="398525" y="0"/>
                  </a:lnTo>
                  <a:lnTo>
                    <a:pt x="445000" y="2681"/>
                  </a:lnTo>
                  <a:lnTo>
                    <a:pt x="489901" y="10525"/>
                  </a:lnTo>
                  <a:lnTo>
                    <a:pt x="532928" y="23233"/>
                  </a:lnTo>
                  <a:lnTo>
                    <a:pt x="573783" y="40505"/>
                  </a:lnTo>
                  <a:lnTo>
                    <a:pt x="612167" y="62044"/>
                  </a:lnTo>
                  <a:lnTo>
                    <a:pt x="647779" y="87550"/>
                  </a:lnTo>
                  <a:lnTo>
                    <a:pt x="680323" y="116724"/>
                  </a:lnTo>
                  <a:lnTo>
                    <a:pt x="709497" y="149266"/>
                  </a:lnTo>
                  <a:lnTo>
                    <a:pt x="735004" y="184879"/>
                  </a:lnTo>
                  <a:lnTo>
                    <a:pt x="756543" y="223262"/>
                  </a:lnTo>
                  <a:lnTo>
                    <a:pt x="773817" y="264118"/>
                  </a:lnTo>
                  <a:lnTo>
                    <a:pt x="786526" y="307146"/>
                  </a:lnTo>
                  <a:lnTo>
                    <a:pt x="794370" y="352048"/>
                  </a:lnTo>
                  <a:lnTo>
                    <a:pt x="797052" y="398525"/>
                  </a:lnTo>
                  <a:lnTo>
                    <a:pt x="794370" y="445003"/>
                  </a:lnTo>
                  <a:lnTo>
                    <a:pt x="786526" y="489905"/>
                  </a:lnTo>
                  <a:lnTo>
                    <a:pt x="773817" y="532933"/>
                  </a:lnTo>
                  <a:lnTo>
                    <a:pt x="756543" y="573789"/>
                  </a:lnTo>
                  <a:lnTo>
                    <a:pt x="735004" y="612172"/>
                  </a:lnTo>
                  <a:lnTo>
                    <a:pt x="709497" y="647785"/>
                  </a:lnTo>
                  <a:lnTo>
                    <a:pt x="680323" y="680327"/>
                  </a:lnTo>
                  <a:lnTo>
                    <a:pt x="647779" y="709501"/>
                  </a:lnTo>
                  <a:lnTo>
                    <a:pt x="612167" y="735007"/>
                  </a:lnTo>
                  <a:lnTo>
                    <a:pt x="573783" y="756546"/>
                  </a:lnTo>
                  <a:lnTo>
                    <a:pt x="532928" y="773818"/>
                  </a:lnTo>
                  <a:lnTo>
                    <a:pt x="489901" y="786526"/>
                  </a:lnTo>
                  <a:lnTo>
                    <a:pt x="445000" y="794370"/>
                  </a:lnTo>
                  <a:lnTo>
                    <a:pt x="398525" y="797051"/>
                  </a:lnTo>
                  <a:lnTo>
                    <a:pt x="352051" y="794370"/>
                  </a:lnTo>
                  <a:lnTo>
                    <a:pt x="307150" y="786526"/>
                  </a:lnTo>
                  <a:lnTo>
                    <a:pt x="264123" y="773818"/>
                  </a:lnTo>
                  <a:lnTo>
                    <a:pt x="223268" y="756546"/>
                  </a:lnTo>
                  <a:lnTo>
                    <a:pt x="184884" y="735007"/>
                  </a:lnTo>
                  <a:lnTo>
                    <a:pt x="149272" y="709501"/>
                  </a:lnTo>
                  <a:lnTo>
                    <a:pt x="116728" y="680327"/>
                  </a:lnTo>
                  <a:lnTo>
                    <a:pt x="87554" y="647785"/>
                  </a:lnTo>
                  <a:lnTo>
                    <a:pt x="62047" y="612172"/>
                  </a:lnTo>
                  <a:lnTo>
                    <a:pt x="40508" y="573789"/>
                  </a:lnTo>
                  <a:lnTo>
                    <a:pt x="23234" y="532933"/>
                  </a:lnTo>
                  <a:lnTo>
                    <a:pt x="10525" y="489905"/>
                  </a:lnTo>
                  <a:lnTo>
                    <a:pt x="2681" y="445003"/>
                  </a:lnTo>
                  <a:lnTo>
                    <a:pt x="0" y="398525"/>
                  </a:lnTo>
                  <a:close/>
                </a:path>
              </a:pathLst>
            </a:custGeom>
            <a:ln w="38100">
              <a:solidFill>
                <a:srgbClr val="8345B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2075" y="2718815"/>
              <a:ext cx="807720" cy="81076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932169" y="2711958"/>
              <a:ext cx="797560" cy="795655"/>
            </a:xfrm>
            <a:custGeom>
              <a:avLst/>
              <a:gdLst/>
              <a:ahLst/>
              <a:cxnLst/>
              <a:rect l="l" t="t" r="r" b="b"/>
              <a:pathLst>
                <a:path w="797559" h="795654">
                  <a:moveTo>
                    <a:pt x="0" y="397764"/>
                  </a:moveTo>
                  <a:lnTo>
                    <a:pt x="2681" y="351370"/>
                  </a:lnTo>
                  <a:lnTo>
                    <a:pt x="10525" y="306550"/>
                  </a:lnTo>
                  <a:lnTo>
                    <a:pt x="23234" y="263602"/>
                  </a:lnTo>
                  <a:lnTo>
                    <a:pt x="40508" y="222823"/>
                  </a:lnTo>
                  <a:lnTo>
                    <a:pt x="62047" y="184513"/>
                  </a:lnTo>
                  <a:lnTo>
                    <a:pt x="87554" y="148969"/>
                  </a:lnTo>
                  <a:lnTo>
                    <a:pt x="116728" y="116490"/>
                  </a:lnTo>
                  <a:lnTo>
                    <a:pt x="149272" y="87374"/>
                  </a:lnTo>
                  <a:lnTo>
                    <a:pt x="184884" y="61919"/>
                  </a:lnTo>
                  <a:lnTo>
                    <a:pt x="223268" y="40423"/>
                  </a:lnTo>
                  <a:lnTo>
                    <a:pt x="264123" y="23185"/>
                  </a:lnTo>
                  <a:lnTo>
                    <a:pt x="307150" y="10503"/>
                  </a:lnTo>
                  <a:lnTo>
                    <a:pt x="352051" y="2675"/>
                  </a:lnTo>
                  <a:lnTo>
                    <a:pt x="398525" y="0"/>
                  </a:lnTo>
                  <a:lnTo>
                    <a:pt x="445000" y="2675"/>
                  </a:lnTo>
                  <a:lnTo>
                    <a:pt x="489901" y="10503"/>
                  </a:lnTo>
                  <a:lnTo>
                    <a:pt x="532928" y="23185"/>
                  </a:lnTo>
                  <a:lnTo>
                    <a:pt x="573783" y="40423"/>
                  </a:lnTo>
                  <a:lnTo>
                    <a:pt x="612167" y="61919"/>
                  </a:lnTo>
                  <a:lnTo>
                    <a:pt x="647779" y="87374"/>
                  </a:lnTo>
                  <a:lnTo>
                    <a:pt x="680323" y="116490"/>
                  </a:lnTo>
                  <a:lnTo>
                    <a:pt x="709497" y="148969"/>
                  </a:lnTo>
                  <a:lnTo>
                    <a:pt x="735004" y="184513"/>
                  </a:lnTo>
                  <a:lnTo>
                    <a:pt x="756543" y="222823"/>
                  </a:lnTo>
                  <a:lnTo>
                    <a:pt x="773817" y="263602"/>
                  </a:lnTo>
                  <a:lnTo>
                    <a:pt x="786526" y="306550"/>
                  </a:lnTo>
                  <a:lnTo>
                    <a:pt x="794370" y="351370"/>
                  </a:lnTo>
                  <a:lnTo>
                    <a:pt x="797051" y="397764"/>
                  </a:lnTo>
                  <a:lnTo>
                    <a:pt x="794370" y="444157"/>
                  </a:lnTo>
                  <a:lnTo>
                    <a:pt x="786526" y="488977"/>
                  </a:lnTo>
                  <a:lnTo>
                    <a:pt x="773817" y="531925"/>
                  </a:lnTo>
                  <a:lnTo>
                    <a:pt x="756543" y="572704"/>
                  </a:lnTo>
                  <a:lnTo>
                    <a:pt x="735004" y="611014"/>
                  </a:lnTo>
                  <a:lnTo>
                    <a:pt x="709497" y="646558"/>
                  </a:lnTo>
                  <a:lnTo>
                    <a:pt x="680323" y="679037"/>
                  </a:lnTo>
                  <a:lnTo>
                    <a:pt x="647779" y="708153"/>
                  </a:lnTo>
                  <a:lnTo>
                    <a:pt x="612167" y="733608"/>
                  </a:lnTo>
                  <a:lnTo>
                    <a:pt x="573783" y="755104"/>
                  </a:lnTo>
                  <a:lnTo>
                    <a:pt x="532928" y="772342"/>
                  </a:lnTo>
                  <a:lnTo>
                    <a:pt x="489901" y="785024"/>
                  </a:lnTo>
                  <a:lnTo>
                    <a:pt x="445000" y="792852"/>
                  </a:lnTo>
                  <a:lnTo>
                    <a:pt x="398525" y="795528"/>
                  </a:lnTo>
                  <a:lnTo>
                    <a:pt x="352051" y="792852"/>
                  </a:lnTo>
                  <a:lnTo>
                    <a:pt x="307150" y="785024"/>
                  </a:lnTo>
                  <a:lnTo>
                    <a:pt x="264123" y="772342"/>
                  </a:lnTo>
                  <a:lnTo>
                    <a:pt x="223268" y="755104"/>
                  </a:lnTo>
                  <a:lnTo>
                    <a:pt x="184884" y="733608"/>
                  </a:lnTo>
                  <a:lnTo>
                    <a:pt x="149272" y="708153"/>
                  </a:lnTo>
                  <a:lnTo>
                    <a:pt x="116728" y="679037"/>
                  </a:lnTo>
                  <a:lnTo>
                    <a:pt x="87554" y="646558"/>
                  </a:lnTo>
                  <a:lnTo>
                    <a:pt x="62047" y="611014"/>
                  </a:lnTo>
                  <a:lnTo>
                    <a:pt x="40508" y="572704"/>
                  </a:lnTo>
                  <a:lnTo>
                    <a:pt x="23234" y="531925"/>
                  </a:lnTo>
                  <a:lnTo>
                    <a:pt x="10525" y="488977"/>
                  </a:lnTo>
                  <a:lnTo>
                    <a:pt x="2681" y="444157"/>
                  </a:lnTo>
                  <a:lnTo>
                    <a:pt x="0" y="397764"/>
                  </a:lnTo>
                  <a:close/>
                </a:path>
              </a:pathLst>
            </a:custGeom>
            <a:ln w="38100">
              <a:solidFill>
                <a:srgbClr val="8345B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5123" y="3803904"/>
              <a:ext cx="818387" cy="79552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942837" y="3792474"/>
              <a:ext cx="797560" cy="795655"/>
            </a:xfrm>
            <a:custGeom>
              <a:avLst/>
              <a:gdLst/>
              <a:ahLst/>
              <a:cxnLst/>
              <a:rect l="l" t="t" r="r" b="b"/>
              <a:pathLst>
                <a:path w="797559" h="795654">
                  <a:moveTo>
                    <a:pt x="0" y="397763"/>
                  </a:moveTo>
                  <a:lnTo>
                    <a:pt x="2681" y="351375"/>
                  </a:lnTo>
                  <a:lnTo>
                    <a:pt x="10525" y="306558"/>
                  </a:lnTo>
                  <a:lnTo>
                    <a:pt x="23234" y="263612"/>
                  </a:lnTo>
                  <a:lnTo>
                    <a:pt x="40508" y="222835"/>
                  </a:lnTo>
                  <a:lnTo>
                    <a:pt x="62047" y="184524"/>
                  </a:lnTo>
                  <a:lnTo>
                    <a:pt x="87554" y="148980"/>
                  </a:lnTo>
                  <a:lnTo>
                    <a:pt x="116728" y="116500"/>
                  </a:lnTo>
                  <a:lnTo>
                    <a:pt x="149272" y="87382"/>
                  </a:lnTo>
                  <a:lnTo>
                    <a:pt x="184884" y="61925"/>
                  </a:lnTo>
                  <a:lnTo>
                    <a:pt x="223268" y="40428"/>
                  </a:lnTo>
                  <a:lnTo>
                    <a:pt x="264123" y="23188"/>
                  </a:lnTo>
                  <a:lnTo>
                    <a:pt x="307150" y="10504"/>
                  </a:lnTo>
                  <a:lnTo>
                    <a:pt x="352051" y="2675"/>
                  </a:lnTo>
                  <a:lnTo>
                    <a:pt x="398525" y="0"/>
                  </a:lnTo>
                  <a:lnTo>
                    <a:pt x="445000" y="2675"/>
                  </a:lnTo>
                  <a:lnTo>
                    <a:pt x="489901" y="10504"/>
                  </a:lnTo>
                  <a:lnTo>
                    <a:pt x="532928" y="23188"/>
                  </a:lnTo>
                  <a:lnTo>
                    <a:pt x="573783" y="40428"/>
                  </a:lnTo>
                  <a:lnTo>
                    <a:pt x="612167" y="61925"/>
                  </a:lnTo>
                  <a:lnTo>
                    <a:pt x="647779" y="87382"/>
                  </a:lnTo>
                  <a:lnTo>
                    <a:pt x="680323" y="116500"/>
                  </a:lnTo>
                  <a:lnTo>
                    <a:pt x="709497" y="148980"/>
                  </a:lnTo>
                  <a:lnTo>
                    <a:pt x="735004" y="184524"/>
                  </a:lnTo>
                  <a:lnTo>
                    <a:pt x="756543" y="222835"/>
                  </a:lnTo>
                  <a:lnTo>
                    <a:pt x="773817" y="263612"/>
                  </a:lnTo>
                  <a:lnTo>
                    <a:pt x="786526" y="306558"/>
                  </a:lnTo>
                  <a:lnTo>
                    <a:pt x="794370" y="351375"/>
                  </a:lnTo>
                  <a:lnTo>
                    <a:pt x="797052" y="397763"/>
                  </a:lnTo>
                  <a:lnTo>
                    <a:pt x="794370" y="444152"/>
                  </a:lnTo>
                  <a:lnTo>
                    <a:pt x="786526" y="488969"/>
                  </a:lnTo>
                  <a:lnTo>
                    <a:pt x="773817" y="531915"/>
                  </a:lnTo>
                  <a:lnTo>
                    <a:pt x="756543" y="572692"/>
                  </a:lnTo>
                  <a:lnTo>
                    <a:pt x="735004" y="611003"/>
                  </a:lnTo>
                  <a:lnTo>
                    <a:pt x="709497" y="646547"/>
                  </a:lnTo>
                  <a:lnTo>
                    <a:pt x="680323" y="679027"/>
                  </a:lnTo>
                  <a:lnTo>
                    <a:pt x="647779" y="708145"/>
                  </a:lnTo>
                  <a:lnTo>
                    <a:pt x="612167" y="733602"/>
                  </a:lnTo>
                  <a:lnTo>
                    <a:pt x="573783" y="755099"/>
                  </a:lnTo>
                  <a:lnTo>
                    <a:pt x="532928" y="772339"/>
                  </a:lnTo>
                  <a:lnTo>
                    <a:pt x="489901" y="785023"/>
                  </a:lnTo>
                  <a:lnTo>
                    <a:pt x="445000" y="792852"/>
                  </a:lnTo>
                  <a:lnTo>
                    <a:pt x="398525" y="795527"/>
                  </a:lnTo>
                  <a:lnTo>
                    <a:pt x="352051" y="792852"/>
                  </a:lnTo>
                  <a:lnTo>
                    <a:pt x="307150" y="785023"/>
                  </a:lnTo>
                  <a:lnTo>
                    <a:pt x="264123" y="772339"/>
                  </a:lnTo>
                  <a:lnTo>
                    <a:pt x="223268" y="755099"/>
                  </a:lnTo>
                  <a:lnTo>
                    <a:pt x="184884" y="733602"/>
                  </a:lnTo>
                  <a:lnTo>
                    <a:pt x="149272" y="708145"/>
                  </a:lnTo>
                  <a:lnTo>
                    <a:pt x="116728" y="679027"/>
                  </a:lnTo>
                  <a:lnTo>
                    <a:pt x="87554" y="646547"/>
                  </a:lnTo>
                  <a:lnTo>
                    <a:pt x="62047" y="611003"/>
                  </a:lnTo>
                  <a:lnTo>
                    <a:pt x="40508" y="572692"/>
                  </a:lnTo>
                  <a:lnTo>
                    <a:pt x="23234" y="531915"/>
                  </a:lnTo>
                  <a:lnTo>
                    <a:pt x="10525" y="488969"/>
                  </a:lnTo>
                  <a:lnTo>
                    <a:pt x="2681" y="444152"/>
                  </a:lnTo>
                  <a:lnTo>
                    <a:pt x="0" y="397763"/>
                  </a:lnTo>
                  <a:close/>
                </a:path>
              </a:pathLst>
            </a:custGeom>
            <a:ln w="38100">
              <a:solidFill>
                <a:srgbClr val="8345B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60363" y="347471"/>
              <a:ext cx="822960" cy="79705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64173" y="339089"/>
              <a:ext cx="795655" cy="797560"/>
            </a:xfrm>
            <a:custGeom>
              <a:avLst/>
              <a:gdLst/>
              <a:ahLst/>
              <a:cxnLst/>
              <a:rect l="l" t="t" r="r" b="b"/>
              <a:pathLst>
                <a:path w="795654" h="797560">
                  <a:moveTo>
                    <a:pt x="0" y="398525"/>
                  </a:moveTo>
                  <a:lnTo>
                    <a:pt x="2675" y="352051"/>
                  </a:lnTo>
                  <a:lnTo>
                    <a:pt x="10503" y="307150"/>
                  </a:lnTo>
                  <a:lnTo>
                    <a:pt x="23185" y="264123"/>
                  </a:lnTo>
                  <a:lnTo>
                    <a:pt x="40423" y="223268"/>
                  </a:lnTo>
                  <a:lnTo>
                    <a:pt x="61919" y="184884"/>
                  </a:lnTo>
                  <a:lnTo>
                    <a:pt x="87374" y="149272"/>
                  </a:lnTo>
                  <a:lnTo>
                    <a:pt x="116490" y="116728"/>
                  </a:lnTo>
                  <a:lnTo>
                    <a:pt x="148969" y="87554"/>
                  </a:lnTo>
                  <a:lnTo>
                    <a:pt x="184513" y="62047"/>
                  </a:lnTo>
                  <a:lnTo>
                    <a:pt x="222823" y="40508"/>
                  </a:lnTo>
                  <a:lnTo>
                    <a:pt x="263602" y="23234"/>
                  </a:lnTo>
                  <a:lnTo>
                    <a:pt x="306550" y="10525"/>
                  </a:lnTo>
                  <a:lnTo>
                    <a:pt x="351370" y="2681"/>
                  </a:lnTo>
                  <a:lnTo>
                    <a:pt x="397763" y="0"/>
                  </a:lnTo>
                  <a:lnTo>
                    <a:pt x="444157" y="2681"/>
                  </a:lnTo>
                  <a:lnTo>
                    <a:pt x="488977" y="10525"/>
                  </a:lnTo>
                  <a:lnTo>
                    <a:pt x="531925" y="23234"/>
                  </a:lnTo>
                  <a:lnTo>
                    <a:pt x="572704" y="40508"/>
                  </a:lnTo>
                  <a:lnTo>
                    <a:pt x="611014" y="62047"/>
                  </a:lnTo>
                  <a:lnTo>
                    <a:pt x="646558" y="87554"/>
                  </a:lnTo>
                  <a:lnTo>
                    <a:pt x="679037" y="116728"/>
                  </a:lnTo>
                  <a:lnTo>
                    <a:pt x="708153" y="149272"/>
                  </a:lnTo>
                  <a:lnTo>
                    <a:pt x="733608" y="184884"/>
                  </a:lnTo>
                  <a:lnTo>
                    <a:pt x="755104" y="223268"/>
                  </a:lnTo>
                  <a:lnTo>
                    <a:pt x="772342" y="264123"/>
                  </a:lnTo>
                  <a:lnTo>
                    <a:pt x="785024" y="307150"/>
                  </a:lnTo>
                  <a:lnTo>
                    <a:pt x="792852" y="352051"/>
                  </a:lnTo>
                  <a:lnTo>
                    <a:pt x="795527" y="398525"/>
                  </a:lnTo>
                  <a:lnTo>
                    <a:pt x="792852" y="445000"/>
                  </a:lnTo>
                  <a:lnTo>
                    <a:pt x="785024" y="489901"/>
                  </a:lnTo>
                  <a:lnTo>
                    <a:pt x="772342" y="532928"/>
                  </a:lnTo>
                  <a:lnTo>
                    <a:pt x="755104" y="573783"/>
                  </a:lnTo>
                  <a:lnTo>
                    <a:pt x="733608" y="612167"/>
                  </a:lnTo>
                  <a:lnTo>
                    <a:pt x="708153" y="647779"/>
                  </a:lnTo>
                  <a:lnTo>
                    <a:pt x="679037" y="680323"/>
                  </a:lnTo>
                  <a:lnTo>
                    <a:pt x="646558" y="709497"/>
                  </a:lnTo>
                  <a:lnTo>
                    <a:pt x="611014" y="735004"/>
                  </a:lnTo>
                  <a:lnTo>
                    <a:pt x="572704" y="756543"/>
                  </a:lnTo>
                  <a:lnTo>
                    <a:pt x="531925" y="773817"/>
                  </a:lnTo>
                  <a:lnTo>
                    <a:pt x="488977" y="786526"/>
                  </a:lnTo>
                  <a:lnTo>
                    <a:pt x="444157" y="794370"/>
                  </a:lnTo>
                  <a:lnTo>
                    <a:pt x="397763" y="797051"/>
                  </a:lnTo>
                  <a:lnTo>
                    <a:pt x="351370" y="794370"/>
                  </a:lnTo>
                  <a:lnTo>
                    <a:pt x="306550" y="786526"/>
                  </a:lnTo>
                  <a:lnTo>
                    <a:pt x="263602" y="773817"/>
                  </a:lnTo>
                  <a:lnTo>
                    <a:pt x="222823" y="756543"/>
                  </a:lnTo>
                  <a:lnTo>
                    <a:pt x="184513" y="735004"/>
                  </a:lnTo>
                  <a:lnTo>
                    <a:pt x="148969" y="709497"/>
                  </a:lnTo>
                  <a:lnTo>
                    <a:pt x="116490" y="680323"/>
                  </a:lnTo>
                  <a:lnTo>
                    <a:pt x="87374" y="647779"/>
                  </a:lnTo>
                  <a:lnTo>
                    <a:pt x="61919" y="612167"/>
                  </a:lnTo>
                  <a:lnTo>
                    <a:pt x="40423" y="573783"/>
                  </a:lnTo>
                  <a:lnTo>
                    <a:pt x="23185" y="532928"/>
                  </a:lnTo>
                  <a:lnTo>
                    <a:pt x="10503" y="489901"/>
                  </a:lnTo>
                  <a:lnTo>
                    <a:pt x="2675" y="445000"/>
                  </a:lnTo>
                  <a:lnTo>
                    <a:pt x="0" y="398525"/>
                  </a:lnTo>
                  <a:close/>
                </a:path>
              </a:pathLst>
            </a:custGeom>
            <a:ln w="38100">
              <a:solidFill>
                <a:srgbClr val="8345B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78651" y="1437132"/>
              <a:ext cx="795527" cy="80924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970269" y="1437893"/>
              <a:ext cx="797560" cy="797560"/>
            </a:xfrm>
            <a:custGeom>
              <a:avLst/>
              <a:gdLst/>
              <a:ahLst/>
              <a:cxnLst/>
              <a:rect l="l" t="t" r="r" b="b"/>
              <a:pathLst>
                <a:path w="797559" h="797560">
                  <a:moveTo>
                    <a:pt x="0" y="398525"/>
                  </a:moveTo>
                  <a:lnTo>
                    <a:pt x="2681" y="352051"/>
                  </a:lnTo>
                  <a:lnTo>
                    <a:pt x="10525" y="307150"/>
                  </a:lnTo>
                  <a:lnTo>
                    <a:pt x="23234" y="264123"/>
                  </a:lnTo>
                  <a:lnTo>
                    <a:pt x="40508" y="223268"/>
                  </a:lnTo>
                  <a:lnTo>
                    <a:pt x="62047" y="184884"/>
                  </a:lnTo>
                  <a:lnTo>
                    <a:pt x="87554" y="149272"/>
                  </a:lnTo>
                  <a:lnTo>
                    <a:pt x="116728" y="116728"/>
                  </a:lnTo>
                  <a:lnTo>
                    <a:pt x="149272" y="87554"/>
                  </a:lnTo>
                  <a:lnTo>
                    <a:pt x="184884" y="62047"/>
                  </a:lnTo>
                  <a:lnTo>
                    <a:pt x="223268" y="40508"/>
                  </a:lnTo>
                  <a:lnTo>
                    <a:pt x="264123" y="23234"/>
                  </a:lnTo>
                  <a:lnTo>
                    <a:pt x="307150" y="10525"/>
                  </a:lnTo>
                  <a:lnTo>
                    <a:pt x="352051" y="2681"/>
                  </a:lnTo>
                  <a:lnTo>
                    <a:pt x="398525" y="0"/>
                  </a:lnTo>
                  <a:lnTo>
                    <a:pt x="445000" y="2681"/>
                  </a:lnTo>
                  <a:lnTo>
                    <a:pt x="489901" y="10525"/>
                  </a:lnTo>
                  <a:lnTo>
                    <a:pt x="532928" y="23234"/>
                  </a:lnTo>
                  <a:lnTo>
                    <a:pt x="573783" y="40508"/>
                  </a:lnTo>
                  <a:lnTo>
                    <a:pt x="612167" y="62047"/>
                  </a:lnTo>
                  <a:lnTo>
                    <a:pt x="647779" y="87554"/>
                  </a:lnTo>
                  <a:lnTo>
                    <a:pt x="680323" y="116728"/>
                  </a:lnTo>
                  <a:lnTo>
                    <a:pt x="709497" y="149272"/>
                  </a:lnTo>
                  <a:lnTo>
                    <a:pt x="735004" y="184884"/>
                  </a:lnTo>
                  <a:lnTo>
                    <a:pt x="756543" y="223268"/>
                  </a:lnTo>
                  <a:lnTo>
                    <a:pt x="773817" y="264123"/>
                  </a:lnTo>
                  <a:lnTo>
                    <a:pt x="786526" y="307150"/>
                  </a:lnTo>
                  <a:lnTo>
                    <a:pt x="794370" y="352051"/>
                  </a:lnTo>
                  <a:lnTo>
                    <a:pt x="797051" y="398525"/>
                  </a:lnTo>
                  <a:lnTo>
                    <a:pt x="794370" y="445000"/>
                  </a:lnTo>
                  <a:lnTo>
                    <a:pt x="786526" y="489901"/>
                  </a:lnTo>
                  <a:lnTo>
                    <a:pt x="773817" y="532928"/>
                  </a:lnTo>
                  <a:lnTo>
                    <a:pt x="756543" y="573783"/>
                  </a:lnTo>
                  <a:lnTo>
                    <a:pt x="735004" y="612167"/>
                  </a:lnTo>
                  <a:lnTo>
                    <a:pt x="709497" y="647779"/>
                  </a:lnTo>
                  <a:lnTo>
                    <a:pt x="680323" y="680323"/>
                  </a:lnTo>
                  <a:lnTo>
                    <a:pt x="647779" y="709497"/>
                  </a:lnTo>
                  <a:lnTo>
                    <a:pt x="612167" y="735004"/>
                  </a:lnTo>
                  <a:lnTo>
                    <a:pt x="573783" y="756543"/>
                  </a:lnTo>
                  <a:lnTo>
                    <a:pt x="532928" y="773817"/>
                  </a:lnTo>
                  <a:lnTo>
                    <a:pt x="489901" y="786526"/>
                  </a:lnTo>
                  <a:lnTo>
                    <a:pt x="445000" y="794370"/>
                  </a:lnTo>
                  <a:lnTo>
                    <a:pt x="398525" y="797051"/>
                  </a:lnTo>
                  <a:lnTo>
                    <a:pt x="352051" y="794370"/>
                  </a:lnTo>
                  <a:lnTo>
                    <a:pt x="307150" y="786526"/>
                  </a:lnTo>
                  <a:lnTo>
                    <a:pt x="264123" y="773817"/>
                  </a:lnTo>
                  <a:lnTo>
                    <a:pt x="223268" y="756543"/>
                  </a:lnTo>
                  <a:lnTo>
                    <a:pt x="184884" y="735004"/>
                  </a:lnTo>
                  <a:lnTo>
                    <a:pt x="149272" y="709497"/>
                  </a:lnTo>
                  <a:lnTo>
                    <a:pt x="116728" y="680323"/>
                  </a:lnTo>
                  <a:lnTo>
                    <a:pt x="87554" y="647779"/>
                  </a:lnTo>
                  <a:lnTo>
                    <a:pt x="62047" y="612167"/>
                  </a:lnTo>
                  <a:lnTo>
                    <a:pt x="40508" y="573783"/>
                  </a:lnTo>
                  <a:lnTo>
                    <a:pt x="23234" y="532928"/>
                  </a:lnTo>
                  <a:lnTo>
                    <a:pt x="10525" y="489901"/>
                  </a:lnTo>
                  <a:lnTo>
                    <a:pt x="2681" y="445000"/>
                  </a:lnTo>
                  <a:lnTo>
                    <a:pt x="0" y="398525"/>
                  </a:lnTo>
                  <a:close/>
                </a:path>
              </a:pathLst>
            </a:custGeom>
            <a:ln w="38100">
              <a:solidFill>
                <a:srgbClr val="8345B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128428" y="2150026"/>
            <a:ext cx="1518920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Portable</a:t>
            </a:r>
            <a:r>
              <a:rPr sz="1200" b="1" spc="-13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&amp;</a:t>
            </a:r>
            <a:r>
              <a:rPr sz="1200" b="1" spc="-20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Easy</a:t>
            </a:r>
            <a:r>
              <a:rPr sz="1200" b="1" spc="-27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to</a:t>
            </a:r>
            <a:r>
              <a:rPr sz="1200" b="1" spc="-20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spc="-27" dirty="0">
                <a:solidFill>
                  <a:srgbClr val="8345B9"/>
                </a:solidFill>
                <a:latin typeface="Carlito"/>
                <a:cs typeface="Carlito"/>
              </a:rPr>
              <a:t>Use.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28428" y="2495464"/>
            <a:ext cx="2343573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The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breast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pump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is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small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and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lightweight, which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means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it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is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easy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to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store</a:t>
            </a:r>
            <a:r>
              <a:rPr sz="1200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and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transport,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making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pumping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on-the-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go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simple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and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discreet.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33339" y="3687401"/>
            <a:ext cx="1061720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Sit</a:t>
            </a:r>
            <a:r>
              <a:rPr sz="1200" b="1" spc="-20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spc="-13" dirty="0">
                <a:solidFill>
                  <a:srgbClr val="8345B9"/>
                </a:solidFill>
                <a:latin typeface="Carlito"/>
                <a:cs typeface="Carlito"/>
              </a:rPr>
              <a:t>Comfortably.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33339" y="4052756"/>
            <a:ext cx="2429085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Relax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and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sit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comfortably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while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you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express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-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thanks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our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design</a:t>
            </a:r>
            <a:r>
              <a:rPr sz="1200" spc="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that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lets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you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sit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upright,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rather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than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having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to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lean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forward.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28090" y="5244727"/>
            <a:ext cx="117517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Fast</a:t>
            </a:r>
            <a:r>
              <a:rPr sz="1200" b="1" spc="-27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Milk</a:t>
            </a:r>
            <a:r>
              <a:rPr sz="1200" b="1" spc="-27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spc="-13" dirty="0">
                <a:solidFill>
                  <a:srgbClr val="8345B9"/>
                </a:solidFill>
                <a:latin typeface="Carlito"/>
                <a:cs typeface="Carlito"/>
              </a:rPr>
              <a:t>Release.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28090" y="5610487"/>
            <a:ext cx="2622127" cy="75576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</a:t>
            </a:r>
            <a:r>
              <a:rPr sz="1200" spc="-6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unique,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portable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manual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breast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pump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67" dirty="0">
                <a:solidFill>
                  <a:srgbClr val="252525"/>
                </a:solidFill>
                <a:latin typeface="Carlito"/>
                <a:cs typeface="Carlito"/>
              </a:rPr>
              <a:t>–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ideal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For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mothers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who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need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gently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release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their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milk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while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away</a:t>
            </a:r>
            <a:r>
              <a:rPr sz="1200" spc="-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from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home,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or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before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breastfeeding..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50264" y="3660647"/>
            <a:ext cx="153077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Suction</a:t>
            </a:r>
            <a:r>
              <a:rPr sz="1200" b="1" spc="-7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&amp;</a:t>
            </a:r>
            <a:r>
              <a:rPr sz="1200" b="1" spc="-33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Flow</a:t>
            </a:r>
            <a:r>
              <a:rPr sz="1200" b="1" spc="-27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spc="-13" dirty="0">
                <a:solidFill>
                  <a:srgbClr val="8345B9"/>
                </a:solidFill>
                <a:latin typeface="Carlito"/>
                <a:cs typeface="Carlito"/>
              </a:rPr>
              <a:t>Control.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50264" y="4026001"/>
            <a:ext cx="2471419" cy="57109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just">
              <a:spcBef>
                <a:spcPts val="133"/>
              </a:spcBef>
            </a:pP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Feel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free</a:t>
            </a:r>
            <a:r>
              <a:rPr sz="1200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adjust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the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pumping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rhythm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and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suction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suit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your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needs,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comfort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and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milk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flow.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39258" y="5072007"/>
            <a:ext cx="153077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Adapts</a:t>
            </a:r>
            <a:r>
              <a:rPr sz="1200" b="1" spc="-13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to</a:t>
            </a:r>
            <a:r>
              <a:rPr sz="1200" b="1" spc="-33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Your</a:t>
            </a:r>
            <a:r>
              <a:rPr sz="1200" b="1" spc="-40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spc="-13" dirty="0">
                <a:solidFill>
                  <a:srgbClr val="8345B9"/>
                </a:solidFill>
                <a:latin typeface="Carlito"/>
                <a:cs typeface="Carlito"/>
              </a:rPr>
              <a:t>Nipples.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39258" y="5437767"/>
            <a:ext cx="2476500" cy="9404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One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size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fits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all.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Because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we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all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come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in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different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shapes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and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sizes,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the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silicone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cushion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gently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flexes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and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adapts</a:t>
            </a:r>
            <a:r>
              <a:rPr sz="1200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fit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your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unique</a:t>
            </a:r>
            <a:r>
              <a:rPr sz="1200" spc="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anatomy.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Fits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99.98%</a:t>
            </a:r>
            <a:r>
              <a:rPr sz="1200" spc="-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of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all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nipple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sizes*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(up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30mm)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28090" y="482600"/>
            <a:ext cx="103547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Express</a:t>
            </a:r>
            <a:r>
              <a:rPr sz="1200" b="1" spc="-27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&amp;</a:t>
            </a:r>
            <a:r>
              <a:rPr sz="1200" b="1" spc="-27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spc="-13" dirty="0">
                <a:solidFill>
                  <a:srgbClr val="8345B9"/>
                </a:solidFill>
                <a:latin typeface="Carlito"/>
                <a:cs typeface="Carlito"/>
              </a:rPr>
              <a:t>Feed.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28089" y="848360"/>
            <a:ext cx="2462107" cy="9404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feed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using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your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expressed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milk,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simply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attach</a:t>
            </a:r>
            <a:r>
              <a:rPr sz="1200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the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soft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nipple</a:t>
            </a:r>
            <a:r>
              <a:rPr sz="1200" spc="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the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bottle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container.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store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your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milk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for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feeding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later,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close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the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bottle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using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the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sealing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disc.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68554" y="482600"/>
            <a:ext cx="1506220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Easy</a:t>
            </a:r>
            <a:r>
              <a:rPr sz="1200" b="1" spc="-33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to</a:t>
            </a:r>
            <a:r>
              <a:rPr sz="1200" b="1" spc="-13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Clean</a:t>
            </a:r>
            <a:r>
              <a:rPr sz="1200" b="1" spc="-27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&amp;</a:t>
            </a:r>
            <a:r>
              <a:rPr sz="1200" b="1" spc="-13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Set</a:t>
            </a:r>
            <a:r>
              <a:rPr sz="1200" b="1" spc="-20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spc="-33" dirty="0">
                <a:solidFill>
                  <a:srgbClr val="8345B9"/>
                </a:solidFill>
                <a:latin typeface="Carlito"/>
                <a:cs typeface="Carlito"/>
              </a:rPr>
              <a:t>Up.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68553" y="848360"/>
            <a:ext cx="245364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Because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there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are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only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few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parts,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our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new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pump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is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easy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set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up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and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clean.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99034" y="1920747"/>
            <a:ext cx="1817793" cy="20176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Natural</a:t>
            </a:r>
            <a:r>
              <a:rPr sz="1200" b="1" spc="-40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dirty="0">
                <a:solidFill>
                  <a:srgbClr val="8345B9"/>
                </a:solidFill>
                <a:latin typeface="Carlito"/>
                <a:cs typeface="Carlito"/>
              </a:rPr>
              <a:t>Motion</a:t>
            </a:r>
            <a:r>
              <a:rPr sz="1200" b="1" spc="-40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200" b="1" spc="-13" dirty="0">
                <a:solidFill>
                  <a:srgbClr val="8345B9"/>
                </a:solidFill>
                <a:latin typeface="Carlito"/>
                <a:cs typeface="Carlito"/>
              </a:rPr>
              <a:t>Technology.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99034" y="2286507"/>
            <a:ext cx="2478193" cy="94042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</a:pP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The</a:t>
            </a:r>
            <a:r>
              <a:rPr sz="1200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innovative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silicone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flange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-</a:t>
            </a:r>
            <a:r>
              <a:rPr sz="1200" spc="-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inspired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by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baby’s</a:t>
            </a:r>
            <a:r>
              <a:rPr sz="1200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unique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suckling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action</a:t>
            </a:r>
            <a:r>
              <a:rPr sz="1200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67" dirty="0">
                <a:solidFill>
                  <a:srgbClr val="252525"/>
                </a:solidFill>
                <a:latin typeface="Carlito"/>
                <a:cs typeface="Carlito"/>
              </a:rPr>
              <a:t>-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stimulates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the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nipple</a:t>
            </a:r>
            <a:r>
              <a:rPr sz="1200" spc="-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200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help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start</a:t>
            </a:r>
            <a:r>
              <a:rPr sz="1200" spc="-6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your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milk</a:t>
            </a:r>
            <a:r>
              <a:rPr sz="1200" spc="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flow,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fast.</a:t>
            </a:r>
            <a:r>
              <a:rPr sz="1200" spc="-2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For</a:t>
            </a:r>
            <a:r>
              <a:rPr sz="1200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comfortable </a:t>
            </a:r>
            <a:r>
              <a:rPr sz="1200" spc="-33" dirty="0">
                <a:solidFill>
                  <a:srgbClr val="252525"/>
                </a:solidFill>
                <a:latin typeface="Carlito"/>
                <a:cs typeface="Carlito"/>
              </a:rPr>
              <a:t>and</a:t>
            </a:r>
            <a:r>
              <a:rPr sz="1200" spc="6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dirty="0">
                <a:solidFill>
                  <a:srgbClr val="252525"/>
                </a:solidFill>
                <a:latin typeface="Carlito"/>
                <a:cs typeface="Carlito"/>
              </a:rPr>
              <a:t>effective</a:t>
            </a:r>
            <a:r>
              <a:rPr sz="1200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200" spc="-13" dirty="0">
                <a:solidFill>
                  <a:srgbClr val="252525"/>
                </a:solidFill>
                <a:latin typeface="Carlito"/>
                <a:cs typeface="Carlito"/>
              </a:rPr>
              <a:t>expression.</a:t>
            </a:r>
            <a:endParaRPr sz="1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A5D7BDD-976E-C1E2-305E-ECE4919453E9}"/>
              </a:ext>
            </a:extLst>
          </p:cNvPr>
          <p:cNvSpPr txBox="1"/>
          <p:nvPr/>
        </p:nvSpPr>
        <p:spPr>
          <a:xfrm>
            <a:off x="1459658" y="463883"/>
            <a:ext cx="4887793" cy="820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385658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2667" dirty="0">
                <a:solidFill>
                  <a:srgbClr val="8345BA"/>
                </a:solidFill>
                <a:latin typeface="Neue Frutiger World Thin" panose="020B0303040304020203" pitchFamily="34" charset="0"/>
                <a:ea typeface="+mj-ea"/>
                <a:cs typeface="Neue Frutiger World Thin" panose="020B0303040304020203" pitchFamily="34" charset="0"/>
              </a:rPr>
              <a:t>Basic Electric</a:t>
            </a:r>
          </a:p>
          <a:p>
            <a:pPr lvl="1"/>
            <a:r>
              <a:rPr lang="en-US" sz="2667" dirty="0">
                <a:solidFill>
                  <a:srgbClr val="8345BA"/>
                </a:solidFill>
                <a:latin typeface="Neue Frutiger World" panose="020B0603040304020203" pitchFamily="34" charset="0"/>
                <a:ea typeface="+mj-ea"/>
                <a:cs typeface="Neue Frutiger World" panose="020B0603040304020203" pitchFamily="34" charset="0"/>
              </a:rPr>
              <a:t>    </a:t>
            </a:r>
            <a:r>
              <a:rPr lang="en-US" sz="2667" b="1" dirty="0">
                <a:solidFill>
                  <a:srgbClr val="8345BA"/>
                </a:solidFill>
                <a:latin typeface="Neue Frutiger World" panose="020B0603040304020203" pitchFamily="34" charset="0"/>
                <a:ea typeface="+mj-ea"/>
                <a:cs typeface="Neue Frutiger World" panose="020B0603040304020203" pitchFamily="34" charset="0"/>
              </a:rPr>
              <a:t>Breast Pump.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F917414-A474-0FDD-BBEC-E62405D96A2E}"/>
              </a:ext>
            </a:extLst>
          </p:cNvPr>
          <p:cNvSpPr/>
          <p:nvPr/>
        </p:nvSpPr>
        <p:spPr>
          <a:xfrm>
            <a:off x="310727" y="356659"/>
            <a:ext cx="1442044" cy="911109"/>
          </a:xfrm>
          <a:prstGeom prst="roundRect">
            <a:avLst/>
          </a:prstGeom>
          <a:gradFill>
            <a:gsLst>
              <a:gs pos="0">
                <a:srgbClr val="8345BA"/>
              </a:gs>
              <a:gs pos="100000">
                <a:srgbClr val="FFCCFF"/>
              </a:gs>
            </a:gsLst>
            <a:lin ang="2700000" scaled="0"/>
          </a:gradFill>
          <a:ln w="25400" cap="flat" cmpd="sng" algn="ctr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05C820-5088-0914-890A-49F08413628A}"/>
              </a:ext>
            </a:extLst>
          </p:cNvPr>
          <p:cNvSpPr txBox="1">
            <a:spLocks/>
          </p:cNvSpPr>
          <p:nvPr/>
        </p:nvSpPr>
        <p:spPr>
          <a:xfrm>
            <a:off x="388973" y="533866"/>
            <a:ext cx="1750843" cy="669863"/>
          </a:xfrm>
          <a:prstGeom prst="rect">
            <a:avLst/>
          </a:prstGeom>
        </p:spPr>
        <p:txBody>
          <a:bodyPr vert="horz" lIns="121920" tIns="60960" rIns="121920" bIns="6096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Neue Frutiger World" panose="020B0603040304020203" pitchFamily="34" charset="0"/>
                <a:cs typeface="Neue Frutiger World" panose="020B0603040304020203" pitchFamily="34" charset="0"/>
              </a:rPr>
              <a:t>NEW</a:t>
            </a:r>
            <a:endParaRPr lang="bg-BG" sz="2400" b="1" dirty="0">
              <a:solidFill>
                <a:schemeClr val="bg1"/>
              </a:solidFill>
              <a:latin typeface="Neue Frutiger World" panose="020B0603040304020203" pitchFamily="34" charset="0"/>
              <a:cs typeface="Neue Frutiger World" panose="020B0603040304020203" pitchFamily="34" charset="0"/>
            </a:endParaRP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497F723-5EA8-206D-8D7A-487A4C8605B0}"/>
              </a:ext>
            </a:extLst>
          </p:cNvPr>
          <p:cNvGraphicFramePr>
            <a:graphicFrameLocks noGrp="1"/>
          </p:cNvGraphicFramePr>
          <p:nvPr/>
        </p:nvGraphicFramePr>
        <p:xfrm>
          <a:off x="640997" y="2444115"/>
          <a:ext cx="11119632" cy="3884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629">
                  <a:extLst>
                    <a:ext uri="{9D8B030D-6E8A-4147-A177-3AD203B41FA5}">
                      <a16:colId xmlns:a16="http://schemas.microsoft.com/office/drawing/2014/main" val="851285644"/>
                    </a:ext>
                  </a:extLst>
                </a:gridCol>
                <a:gridCol w="4416491">
                  <a:extLst>
                    <a:ext uri="{9D8B030D-6E8A-4147-A177-3AD203B41FA5}">
                      <a16:colId xmlns:a16="http://schemas.microsoft.com/office/drawing/2014/main" val="3277175168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38378816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endParaRPr lang="en-US" sz="1500" b="1" i="0">
                        <a:latin typeface="Neue Frutiger World" panose="020B0603040304020203" pitchFamily="34" charset="0"/>
                        <a:cs typeface="Neue Frutiger World" panose="020B0603040304020203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latin typeface="Neue Frutiger World" panose="020B0603040304020203" pitchFamily="34" charset="0"/>
                          <a:cs typeface="Neue Frutiger World" panose="020B0603040304020203" pitchFamily="34" charset="0"/>
                        </a:rPr>
                        <a:t>Daisy SCF323/11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latin typeface="Neue Frutiger World" panose="020B0603040304020203" pitchFamily="34" charset="0"/>
                          <a:cs typeface="Neue Frutiger World" panose="020B0603040304020203" pitchFamily="34" charset="0"/>
                        </a:rPr>
                        <a:t>Eureka SCF395/11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714608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Medium" panose="020B0603040304020203" pitchFamily="34" charset="0"/>
                          <a:cs typeface="Neue Frutiger World Medium" panose="020B0603040304020203" pitchFamily="34" charset="0"/>
                        </a:rPr>
                        <a:t>Design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Motor Unit Size: 10 x 9 x 5 cm</a:t>
                      </a:r>
                    </a:p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Weight: 185g Total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Motor Unit Size: 14.5 x 9.5 x 4.5cm</a:t>
                      </a:r>
                    </a:p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Weight: 370g Total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584226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Medium" panose="020B0603040304020203" pitchFamily="34" charset="0"/>
                          <a:cs typeface="Neue Frutiger World Medium" panose="020B0603040304020203" pitchFamily="34" charset="0"/>
                        </a:rPr>
                        <a:t>User Interface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Front Panel Keyboard and LED Indicators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Front Panel Keyboard and LED Indicators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885373"/>
                  </a:ext>
                </a:extLst>
              </a:tr>
              <a:tr h="568960">
                <a:tc rowSpan="3"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Medium" panose="020B0603040304020203" pitchFamily="34" charset="0"/>
                          <a:cs typeface="Neue Frutiger World Medium" panose="020B0603040304020203" pitchFamily="34" charset="0"/>
                        </a:rPr>
                        <a:t>Vacuum Performance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4 Stimulation Modes and 4 Expression Modes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Suction Cycle Settings: 8 Stimulation Modes and 16 Expression Modes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766972"/>
                  </a:ext>
                </a:extLst>
              </a:tr>
              <a:tr h="568960">
                <a:tc vMerge="1">
                  <a:txBody>
                    <a:bodyPr/>
                    <a:lstStyle/>
                    <a:p>
                      <a:endParaRPr lang="en-US" sz="900" b="0" i="0" dirty="0">
                        <a:latin typeface="Neue Frutiger World Medium" panose="020B0603040304020203" pitchFamily="34" charset="0"/>
                        <a:cs typeface="Neue Frutiger World Medium" panose="020B0603040304020203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Min: 210 Mb</a:t>
                      </a:r>
                    </a:p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Max: 298 Mb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Min: 60 Mb</a:t>
                      </a:r>
                    </a:p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Max: 360 Mb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034907"/>
                  </a:ext>
                </a:extLst>
              </a:tr>
              <a:tr h="568960">
                <a:tc vMerge="1">
                  <a:txBody>
                    <a:bodyPr/>
                    <a:lstStyle/>
                    <a:p>
                      <a:endParaRPr lang="en-US" sz="900" b="0" i="0" dirty="0">
                        <a:latin typeface="Neue Frutiger World Medium" panose="020B0603040304020203" pitchFamily="34" charset="0"/>
                        <a:cs typeface="Neue Frutiger World Medium" panose="020B0603040304020203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Classic Expression Kit without Tactile Stimulation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Cushion with Tactile Stimulation for a Higher MER (time between start and the moment the milk actually flows)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74626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latin typeface="Neue Frutiger World Medium" panose="020B0603040304020203" pitchFamily="34" charset="0"/>
                          <a:cs typeface="Neue Frutiger World Medium" panose="020B0603040304020203" pitchFamily="34" charset="0"/>
                        </a:rPr>
                        <a:t>Energy Source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Power Adapter (not included)</a:t>
                      </a:r>
                    </a:p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Compatible with USB battery bank (not included)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Power Adapter (included)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55504"/>
                  </a:ext>
                </a:extLst>
              </a:tr>
            </a:tbl>
          </a:graphicData>
        </a:graphic>
      </p:graphicFrame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E92116FD-370A-172D-2B03-2918435340E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2701" y="920595"/>
            <a:ext cx="1889500" cy="2111712"/>
          </a:xfrm>
          <a:prstGeom prst="rect">
            <a:avLst/>
          </a:prstGeom>
        </p:spPr>
      </p:pic>
      <p:pic>
        <p:nvPicPr>
          <p:cNvPr id="309252" name="Picture 4" descr="ลดพิเศษ 26%**PHILIPS AVENT (ฟิลิปส์ เอเว้นท์) เครื่องปั๊มนม ไฟฟ้าแบบปั๊มคู่  (SCF393/11) - PUMPNOM.COM">
            <a:extLst>
              <a:ext uri="{FF2B5EF4-FFF2-40B4-BE49-F238E27FC236}">
                <a16:creationId xmlns:a16="http://schemas.microsoft.com/office/drawing/2014/main" id="{36FD53D2-F746-4A48-3F9A-74D5C1684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6975" y="1086357"/>
            <a:ext cx="2225236" cy="178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68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DA5D7BDD-976E-C1E2-305E-ECE4919453E9}"/>
              </a:ext>
            </a:extLst>
          </p:cNvPr>
          <p:cNvSpPr txBox="1"/>
          <p:nvPr/>
        </p:nvSpPr>
        <p:spPr>
          <a:xfrm>
            <a:off x="31417" y="463883"/>
            <a:ext cx="4887793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385658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3200" dirty="0">
                <a:solidFill>
                  <a:srgbClr val="8345BA"/>
                </a:solidFill>
                <a:latin typeface="Neue Frutiger World Thin" panose="020B0303040304020203" pitchFamily="34" charset="0"/>
                <a:ea typeface="+mj-ea"/>
                <a:cs typeface="Neue Frutiger World Thin" panose="020B0303040304020203" pitchFamily="34" charset="0"/>
              </a:rPr>
              <a:t>Storage and</a:t>
            </a:r>
          </a:p>
          <a:p>
            <a:pPr lvl="1"/>
            <a:r>
              <a:rPr lang="en-US" sz="3200" dirty="0">
                <a:solidFill>
                  <a:srgbClr val="8345BA"/>
                </a:solidFill>
                <a:latin typeface="Neue Frutiger World" panose="020B0603040304020203" pitchFamily="34" charset="0"/>
                <a:ea typeface="+mj-ea"/>
                <a:cs typeface="Neue Frutiger World" panose="020B0603040304020203" pitchFamily="34" charset="0"/>
              </a:rPr>
              <a:t>    </a:t>
            </a:r>
            <a:r>
              <a:rPr lang="en-US" sz="3200" b="1" dirty="0">
                <a:solidFill>
                  <a:srgbClr val="8345BA"/>
                </a:solidFill>
                <a:latin typeface="Neue Frutiger World" panose="020B0603040304020203" pitchFamily="34" charset="0"/>
                <a:ea typeface="+mj-ea"/>
                <a:cs typeface="Neue Frutiger World" panose="020B0603040304020203" pitchFamily="34" charset="0"/>
              </a:rPr>
              <a:t>Feeding.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1497F723-5EA8-206D-8D7A-487A4C8605B0}"/>
              </a:ext>
            </a:extLst>
          </p:cNvPr>
          <p:cNvGraphicFramePr>
            <a:graphicFrameLocks noGrp="1"/>
          </p:cNvGraphicFramePr>
          <p:nvPr/>
        </p:nvGraphicFramePr>
        <p:xfrm>
          <a:off x="931354" y="2746888"/>
          <a:ext cx="10329294" cy="3630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291">
                  <a:extLst>
                    <a:ext uri="{9D8B030D-6E8A-4147-A177-3AD203B41FA5}">
                      <a16:colId xmlns:a16="http://schemas.microsoft.com/office/drawing/2014/main" val="851285644"/>
                    </a:ext>
                  </a:extLst>
                </a:gridCol>
                <a:gridCol w="4416491">
                  <a:extLst>
                    <a:ext uri="{9D8B030D-6E8A-4147-A177-3AD203B41FA5}">
                      <a16:colId xmlns:a16="http://schemas.microsoft.com/office/drawing/2014/main" val="3277175168"/>
                    </a:ext>
                  </a:extLst>
                </a:gridCol>
                <a:gridCol w="4608512">
                  <a:extLst>
                    <a:ext uri="{9D8B030D-6E8A-4147-A177-3AD203B41FA5}">
                      <a16:colId xmlns:a16="http://schemas.microsoft.com/office/drawing/2014/main" val="38378816"/>
                    </a:ext>
                  </a:extLst>
                </a:gridCol>
              </a:tblGrid>
              <a:tr h="494453">
                <a:tc>
                  <a:txBody>
                    <a:bodyPr/>
                    <a:lstStyle/>
                    <a:p>
                      <a:endParaRPr lang="en-US" sz="1500" b="1" i="0">
                        <a:latin typeface="Neue Frutiger World" panose="020B0603040304020203" pitchFamily="34" charset="0"/>
                        <a:cs typeface="Neue Frutiger World" panose="020B0603040304020203" pitchFamily="34" charset="0"/>
                      </a:endParaRPr>
                    </a:p>
                  </a:txBody>
                  <a:tcPr marL="121920" marR="12192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latin typeface="Neue Frutiger World" panose="020B0603040304020203" pitchFamily="34" charset="0"/>
                          <a:cs typeface="Neue Frutiger World" panose="020B0603040304020203" pitchFamily="34" charset="0"/>
                        </a:rPr>
                        <a:t>Breast Milk Storage Bags (SCF603/25)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i="0" dirty="0">
                          <a:latin typeface="Neue Frutiger World" panose="020B0603040304020203" pitchFamily="34" charset="0"/>
                          <a:cs typeface="Neue Frutiger World" panose="020B0603040304020203" pitchFamily="34" charset="0"/>
                        </a:rPr>
                        <a:t>Breast Milk Storage Set (SCF618/10)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714608"/>
                  </a:ext>
                </a:extLst>
              </a:tr>
              <a:tr h="494453">
                <a:tc rowSpan="2"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Medium" panose="020B0603040304020203" pitchFamily="34" charset="0"/>
                          <a:cs typeface="Neue Frutiger World Medium" panose="020B0603040304020203" pitchFamily="34" charset="0"/>
                        </a:rPr>
                        <a:t>Description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Provide safe and secure storage for your breast milk.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Store breast milk securely with leakproof lids.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584226"/>
                  </a:ext>
                </a:extLst>
              </a:tr>
              <a:tr h="568960">
                <a:tc vMerge="1">
                  <a:txBody>
                    <a:bodyPr/>
                    <a:lstStyle/>
                    <a:p>
                      <a:endParaRPr lang="en-US" sz="900" b="0" i="0" dirty="0">
                        <a:latin typeface="Neue Frutiger World Medium" panose="020B0603040304020203" pitchFamily="34" charset="0"/>
                        <a:cs typeface="Neue Frutiger World Medium" panose="020B0603040304020203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They can be stored in the fridge or freezer and are </a:t>
                      </a:r>
                      <a:r>
                        <a:rPr lang="en-US" sz="1500" b="0" i="0" dirty="0" err="1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presterilised</a:t>
                      </a:r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 for immediate use.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 err="1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Sterilise</a:t>
                      </a:r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 and reuse the storage cup with the Philips Avent pump or teats — one system, many options.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770909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Medium" panose="020B0603040304020203" pitchFamily="34" charset="0"/>
                          <a:cs typeface="Neue Frutiger World Medium" panose="020B0603040304020203" pitchFamily="34" charset="0"/>
                        </a:rPr>
                        <a:t>Size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180ml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180ml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88537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Medium" panose="020B0603040304020203" pitchFamily="34" charset="0"/>
                          <a:cs typeface="Neue Frutiger World Medium" panose="020B0603040304020203" pitchFamily="34" charset="0"/>
                        </a:rPr>
                        <a:t>Quantity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25 bags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10 (reusable)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76697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latin typeface="Neue Frutiger World Medium" panose="020B0603040304020203" pitchFamily="34" charset="0"/>
                          <a:cs typeface="Neue Frutiger World Medium" panose="020B0603040304020203" pitchFamily="34" charset="0"/>
                        </a:rPr>
                        <a:t>Lids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-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10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555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dirty="0">
                          <a:latin typeface="Neue Frutiger World Medium" panose="020B0603040304020203" pitchFamily="34" charset="0"/>
                          <a:cs typeface="Neue Frutiger World Medium" panose="020B0603040304020203" pitchFamily="34" charset="0"/>
                        </a:rPr>
                        <a:t>Extras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-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0" i="0" dirty="0">
                          <a:latin typeface="Neue Frutiger World Light" panose="020B0403040304020203" pitchFamily="34" charset="0"/>
                          <a:cs typeface="Neue Frutiger World Light" panose="020B0403040304020203" pitchFamily="34" charset="0"/>
                        </a:rPr>
                        <a:t>2 Breast pump adapters (compatible with Natural and Classic nipples).</a:t>
                      </a:r>
                    </a:p>
                  </a:txBody>
                  <a:tcPr marL="121920" marR="121920"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67027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92116FD-370A-172D-2B03-2918435340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37849" y="1180087"/>
            <a:ext cx="1889500" cy="1889500"/>
          </a:xfrm>
          <a:prstGeom prst="rect">
            <a:avLst/>
          </a:prstGeom>
        </p:spPr>
      </p:pic>
      <p:pic>
        <p:nvPicPr>
          <p:cNvPr id="309252" name="Picture 4">
            <a:extLst>
              <a:ext uri="{FF2B5EF4-FFF2-40B4-BE49-F238E27FC236}">
                <a16:creationId xmlns:a16="http://schemas.microsoft.com/office/drawing/2014/main" id="{36FD53D2-F746-4A48-3F9A-74D5C1684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9840417" y="1408390"/>
            <a:ext cx="2022940" cy="178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799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25065" y="6496846"/>
            <a:ext cx="1230207" cy="159810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16933">
              <a:spcBef>
                <a:spcPts val="127"/>
              </a:spcBef>
            </a:pPr>
            <a:r>
              <a:rPr sz="933" dirty="0">
                <a:solidFill>
                  <a:srgbClr val="A6A6A6"/>
                </a:solidFill>
                <a:latin typeface="Carlito"/>
                <a:cs typeface="Carlito"/>
              </a:rPr>
              <a:t>©</a:t>
            </a:r>
            <a:r>
              <a:rPr sz="933" spc="-7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13" dirty="0">
                <a:solidFill>
                  <a:srgbClr val="A6A6A6"/>
                </a:solidFill>
                <a:latin typeface="Carlito"/>
                <a:cs typeface="Carlito"/>
              </a:rPr>
              <a:t>Koninklijke</a:t>
            </a:r>
            <a:r>
              <a:rPr sz="933" spc="13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13" dirty="0">
                <a:solidFill>
                  <a:srgbClr val="A6A6A6"/>
                </a:solidFill>
                <a:latin typeface="Carlito"/>
                <a:cs typeface="Carlito"/>
              </a:rPr>
              <a:t>Philips</a:t>
            </a:r>
            <a:r>
              <a:rPr sz="933" dirty="0">
                <a:solidFill>
                  <a:srgbClr val="A6A6A6"/>
                </a:solidFill>
                <a:latin typeface="Carlito"/>
                <a:cs typeface="Carlito"/>
              </a:rPr>
              <a:t> </a:t>
            </a:r>
            <a:r>
              <a:rPr sz="933" spc="-27" dirty="0">
                <a:solidFill>
                  <a:srgbClr val="A6A6A6"/>
                </a:solidFill>
                <a:latin typeface="Carlito"/>
                <a:cs typeface="Carlito"/>
              </a:rPr>
              <a:t>N.V.</a:t>
            </a:r>
            <a:endParaRPr sz="933">
              <a:latin typeface="Carlito"/>
              <a:cs typeface="Carlito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12528" y="2599436"/>
            <a:ext cx="3518747" cy="317244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1867" dirty="0">
                <a:solidFill>
                  <a:srgbClr val="8345B9"/>
                </a:solidFill>
                <a:latin typeface="Carlito"/>
                <a:cs typeface="Carlito"/>
              </a:rPr>
              <a:t>SCF154/03</a:t>
            </a:r>
            <a:r>
              <a:rPr sz="1867" spc="-67" dirty="0">
                <a:solidFill>
                  <a:srgbClr val="8345B9"/>
                </a:solidFill>
                <a:latin typeface="Carlito"/>
                <a:cs typeface="Carlito"/>
              </a:rPr>
              <a:t> </a:t>
            </a:r>
            <a:r>
              <a:rPr sz="1867" spc="-13" dirty="0">
                <a:solidFill>
                  <a:srgbClr val="8345B9"/>
                </a:solidFill>
                <a:latin typeface="Carlito"/>
                <a:cs typeface="Carlito"/>
              </a:rPr>
              <a:t>(Medium)</a:t>
            </a:r>
            <a:endParaRPr sz="1867">
              <a:latin typeface="Carlito"/>
              <a:cs typeface="Carlito"/>
            </a:endParaRPr>
          </a:p>
          <a:p>
            <a:pPr marL="398770" indent="-381837">
              <a:spcBef>
                <a:spcPts val="2240"/>
              </a:spcBef>
              <a:buFont typeface="Arial"/>
              <a:buChar char="•"/>
              <a:tabLst>
                <a:tab pos="398770" algn="l"/>
              </a:tabLst>
            </a:pP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Helps</a:t>
            </a:r>
            <a:r>
              <a:rPr sz="1867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you</a:t>
            </a:r>
            <a:r>
              <a:rPr sz="1867" spc="-6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breastfeed</a:t>
            </a:r>
            <a:r>
              <a:rPr sz="1867" spc="-3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for</a:t>
            </a:r>
            <a:r>
              <a:rPr sz="1867" spc="-8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longer</a:t>
            </a:r>
            <a:endParaRPr sz="1867">
              <a:latin typeface="Carlito"/>
              <a:cs typeface="Carlito"/>
            </a:endParaRPr>
          </a:p>
          <a:p>
            <a:pPr marL="398770">
              <a:spcBef>
                <a:spcPts val="7"/>
              </a:spcBef>
            </a:pP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with</a:t>
            </a:r>
            <a:r>
              <a:rPr sz="1867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sore</a:t>
            </a:r>
            <a:r>
              <a:rPr sz="1867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nipples.</a:t>
            </a:r>
            <a:endParaRPr sz="1867">
              <a:latin typeface="Carlito"/>
              <a:cs typeface="Carlito"/>
            </a:endParaRPr>
          </a:p>
          <a:p>
            <a:pPr marL="398770" marR="420783" indent="-382684">
              <a:buFont typeface="Arial"/>
              <a:buChar char="•"/>
              <a:tabLst>
                <a:tab pos="398770" algn="l"/>
              </a:tabLst>
            </a:pP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Protects</a:t>
            </a:r>
            <a:r>
              <a:rPr sz="1867" spc="-8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sore</a:t>
            </a:r>
            <a:r>
              <a:rPr sz="1867" spc="-10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nipples</a:t>
            </a:r>
            <a:r>
              <a:rPr sz="1867" spc="-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during breastfeeding.</a:t>
            </a:r>
            <a:endParaRPr sz="1867">
              <a:latin typeface="Carlito"/>
              <a:cs typeface="Carlito"/>
            </a:endParaRPr>
          </a:p>
          <a:p>
            <a:pPr marL="398770" indent="-381837">
              <a:buFont typeface="Arial"/>
              <a:buChar char="•"/>
              <a:tabLst>
                <a:tab pos="398770" algn="l"/>
              </a:tabLst>
            </a:pP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Easy</a:t>
            </a:r>
            <a:r>
              <a:rPr sz="1867" spc="-4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latch-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on</a:t>
            </a:r>
            <a:r>
              <a:rPr sz="1867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for</a:t>
            </a:r>
            <a:r>
              <a:rPr sz="1867" spc="-6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your</a:t>
            </a:r>
            <a:r>
              <a:rPr sz="1867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baby.</a:t>
            </a:r>
            <a:endParaRPr sz="1867">
              <a:latin typeface="Carlito"/>
              <a:cs typeface="Carlito"/>
            </a:endParaRPr>
          </a:p>
          <a:p>
            <a:pPr marL="398770" marR="35559" indent="-382684">
              <a:buFont typeface="Arial"/>
              <a:buChar char="•"/>
              <a:tabLst>
                <a:tab pos="398770" algn="l"/>
              </a:tabLst>
            </a:pP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Made</a:t>
            </a:r>
            <a:r>
              <a:rPr sz="1867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with</a:t>
            </a:r>
            <a:r>
              <a:rPr sz="1867" spc="-4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odourless,</a:t>
            </a:r>
            <a:r>
              <a:rPr sz="1867" spc="-6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tase-</a:t>
            </a:r>
            <a:r>
              <a:rPr sz="1867" spc="-27" dirty="0">
                <a:solidFill>
                  <a:srgbClr val="252525"/>
                </a:solidFill>
                <a:latin typeface="Carlito"/>
                <a:cs typeface="Carlito"/>
              </a:rPr>
              <a:t>free, </a:t>
            </a: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ultra-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fine</a:t>
            </a:r>
            <a:r>
              <a:rPr sz="1867" spc="-27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silicone.</a:t>
            </a:r>
            <a:endParaRPr sz="1867">
              <a:latin typeface="Carlito"/>
              <a:cs typeface="Carlito"/>
            </a:endParaRPr>
          </a:p>
          <a:p>
            <a:pPr marL="398770" marR="6773" indent="-382684">
              <a:buFont typeface="Arial"/>
              <a:buChar char="•"/>
              <a:tabLst>
                <a:tab pos="398770" algn="l"/>
              </a:tabLst>
            </a:pP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Shape</a:t>
            </a:r>
            <a:r>
              <a:rPr sz="1867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to</a:t>
            </a:r>
            <a:r>
              <a:rPr sz="1867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allow</a:t>
            </a:r>
            <a:r>
              <a:rPr sz="1867" spc="-80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skin</a:t>
            </a:r>
            <a:r>
              <a:rPr sz="1867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dirty="0">
                <a:solidFill>
                  <a:srgbClr val="252525"/>
                </a:solidFill>
                <a:latin typeface="Carlito"/>
                <a:cs typeface="Carlito"/>
              </a:rPr>
              <a:t>contact</a:t>
            </a:r>
            <a:r>
              <a:rPr sz="1867" spc="-53" dirty="0">
                <a:solidFill>
                  <a:srgbClr val="252525"/>
                </a:solidFill>
                <a:latin typeface="Carlito"/>
                <a:cs typeface="Carlito"/>
              </a:rPr>
              <a:t> </a:t>
            </a:r>
            <a:r>
              <a:rPr sz="1867" spc="-27" dirty="0">
                <a:solidFill>
                  <a:srgbClr val="252525"/>
                </a:solidFill>
                <a:latin typeface="Carlito"/>
                <a:cs typeface="Carlito"/>
              </a:rPr>
              <a:t>with </a:t>
            </a:r>
            <a:r>
              <a:rPr sz="1867" spc="-13" dirty="0">
                <a:solidFill>
                  <a:srgbClr val="252525"/>
                </a:solidFill>
                <a:latin typeface="Carlito"/>
                <a:cs typeface="Carlito"/>
              </a:rPr>
              <a:t>baby.</a:t>
            </a:r>
            <a:endParaRPr sz="1867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7600" y="388616"/>
            <a:ext cx="14020800" cy="1963853"/>
          </a:xfrm>
          <a:prstGeom prst="rect">
            <a:avLst/>
          </a:prstGeom>
        </p:spPr>
        <p:txBody>
          <a:bodyPr vert="horz" wrap="square" lIns="0" tIns="603740" rIns="0" bIns="0" rtlCol="0" anchor="ctr">
            <a:spAutoFit/>
          </a:bodyPr>
          <a:lstStyle/>
          <a:p>
            <a:pPr marL="425863">
              <a:lnSpc>
                <a:spcPct val="100000"/>
              </a:lnSpc>
              <a:spcBef>
                <a:spcPts val="133"/>
              </a:spcBef>
            </a:pPr>
            <a:r>
              <a:rPr spc="-13" dirty="0"/>
              <a:t>Nipple</a:t>
            </a:r>
          </a:p>
          <a:p>
            <a:pPr marL="697636">
              <a:lnSpc>
                <a:spcPct val="100000"/>
              </a:lnSpc>
              <a:spcBef>
                <a:spcPts val="7"/>
              </a:spcBef>
            </a:pPr>
            <a:r>
              <a:rPr b="1" spc="-13" dirty="0">
                <a:latin typeface="Carlito"/>
                <a:cs typeface="Carlito"/>
              </a:rPr>
              <a:t>Protectors.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020815" y="790449"/>
            <a:ext cx="5638800" cy="5419513"/>
            <a:chOff x="4515611" y="592836"/>
            <a:chExt cx="4229100" cy="40646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5611" y="2592324"/>
              <a:ext cx="1723643" cy="17236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1579" y="592836"/>
              <a:ext cx="2435352" cy="21442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3472" y="2356103"/>
              <a:ext cx="2301239" cy="23012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4F9CD-9371-1436-7083-07903197E4B2}"/>
              </a:ext>
            </a:extLst>
          </p:cNvPr>
          <p:cNvSpPr txBox="1"/>
          <p:nvPr/>
        </p:nvSpPr>
        <p:spPr>
          <a:xfrm>
            <a:off x="4616969" y="2653259"/>
            <a:ext cx="587614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b="1" dirty="0"/>
              <a:t>Questions?</a:t>
            </a:r>
          </a:p>
          <a:p>
            <a:endParaRPr lang="en-ZA" dirty="0"/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05F5BB0D-72BA-D563-FADC-B7DF0E0F3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03161" cy="280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70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1678</TotalTime>
  <Words>937</Words>
  <Application>Microsoft Office PowerPoint</Application>
  <PresentationFormat>Widescreen</PresentationFormat>
  <Paragraphs>157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Calibri</vt:lpstr>
      <vt:lpstr>Calibri Light</vt:lpstr>
      <vt:lpstr>Carlito</vt:lpstr>
      <vt:lpstr>CIDFont+F1</vt:lpstr>
      <vt:lpstr>Neue Frutiger World</vt:lpstr>
      <vt:lpstr>Neue Frutiger World Light</vt:lpstr>
      <vt:lpstr>Neue Frutiger World Medium</vt:lpstr>
      <vt:lpstr>Neue Frutiger World Thin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Natural Glass Bottles are made of pharmaceutical grade glass.</vt:lpstr>
      <vt:lpstr>PowerPoint Presentation</vt:lpstr>
      <vt:lpstr>Steam Sterilisers.</vt:lpstr>
      <vt:lpstr>PowerPoint Presentation</vt:lpstr>
      <vt:lpstr>PowerPoint Presentation</vt:lpstr>
      <vt:lpstr>PowerPoint Presentation</vt:lpstr>
      <vt:lpstr>Nipple Protectors.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Shane Bhoora</dc:creator>
  <cp:lastModifiedBy>Mzwakhe Leegra</cp:lastModifiedBy>
  <cp:revision>43</cp:revision>
  <dcterms:created xsi:type="dcterms:W3CDTF">2022-12-13T20:45:58Z</dcterms:created>
  <dcterms:modified xsi:type="dcterms:W3CDTF">2026-04-13T06:28:04Z</dcterms:modified>
</cp:coreProperties>
</file>